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IMPLEMENTATION PLAN &amp; METHODOLOGY OVERVIEW</a:t>
            </a:r>
          </a:p>
          <a:p/>
          <a:p>
            <a:r>
              <a:t>WHAT THIS SLIDE EXPLAINS:</a:t>
            </a:r>
          </a:p>
          <a:p>
            <a:r>
              <a:t>This slide introduces our complete engineering workflow and methodology. It provides reviewers with a structured roadmap of how data flows from raw multi-omics files to final paired statistical testing.</a:t>
            </a:r>
          </a:p>
          <a:p/>
          <a:p>
            <a:r>
              <a:t>KEY TECHNICAL IDEA:</a:t>
            </a:r>
          </a:p>
          <a:p>
            <a:r>
              <a:t>Real-world clinical oncology suffers from missing diagnostic modalities due to tissue scarcity and assay costs. Rather than training models that crash when inputs are missing, our implementation designs native missing-modality handling directly into the network architecture.</a:t>
            </a:r>
          </a:p>
          <a:p/>
          <a:p>
            <a:r>
              <a:t>30-60 SECOND SPOKEN SCRIPT:</a:t>
            </a:r>
          </a:p>
          <a:p>
            <a:r>
              <a:t>"Good morning, respected committee members. In this major project, we present a robust multimodal AI framework for multi-cancer classification under missing modalities. Our pipeline is structured into five rigorous stages: First, we curate and audit 2,263 unique patient profiles across four clinically critical cancer types from the TCGA MLOmics repository. Second, we enforce strict anti-leakage preprocessing, fitting all normalizations strictly on the training partition. Third, we implement a multi-head self-attention architecture over modality tokens with learned missingness representations. Fourth, we train two distinct regimes: Strategy S1 on complete inputs, and Strategy S2 with stochastic modality dropout. Finally, we evaluate both models across all fifteen possible missingness combinations on a strictly held-out test cohort of 340 patients using paired statistical hypothesis testing."</a:t>
            </a:r>
          </a:p>
          <a:p/>
          <a:p>
            <a:r>
              <a:t>LIKELY REVIEWER QUESTION &amp; ACCURATE ANSWER:</a:t>
            </a:r>
          </a:p>
          <a:p>
            <a:r>
              <a:t>Q: "Why did you choose an attention-based multimodal approach instead of simple late-fusion voting or XGBoost?"</a:t>
            </a:r>
          </a:p>
          <a:p>
            <a:r>
              <a:t>A: "Simple late fusion or ensemble voting cannot capture non-linear cross-talk between orthogonal omics layers, such as transcriptomic expression and epigenetic methylation. Our attention mechanism allows the network to dynamically route patient information through the highest-confidence channels while suppressing noisy modalities like copy number variations."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DATASET AND CANCER COHORT</a:t>
            </a:r>
          </a:p>
          <a:p/>
          <a:p>
            <a:r>
              <a:t>WHAT THIS SLIDE EXPLAINS:</a:t>
            </a:r>
          </a:p>
          <a:p>
            <a:r>
              <a:t>This slide details our patient cohort and the four biological assays used. It justifies why these specific four cancers were chosen and explains why multimodal integration is necessary.</a:t>
            </a:r>
          </a:p>
          <a:p/>
          <a:p>
            <a:r>
              <a:t>KEY TECHNICAL IDEA:</a:t>
            </a:r>
          </a:p>
          <a:p>
            <a:r>
              <a:t>Biological cancer biology operates at multiple tiers—transcriptomic, post-transcriptional, genomic, and epigenetic. No single assay captures the full cellular landscape, but integrating four assays creates a 9,844-dimensional feature space across 2,263 verified patients.</a:t>
            </a:r>
          </a:p>
          <a:p/>
          <a:p>
            <a:r>
              <a:t>30-60 SECOND SPOKEN SCRIPT:</a:t>
            </a:r>
          </a:p>
          <a:p>
            <a:r>
              <a:t>"Our study utilizes a harmonized cohort of 2,263 unique cancer patients across four clinically distinct malignancies: Breast Invasive Carcinoma, Head and Neck Squamous Cell Carcinoma, Lower Grade Glioma, and Thyroid Carcinoma. Each patient is profiled across four orthogonal biological layers: transcriptomic mRNA, microRNA regulatory layers, genomic copy number alterations, and DNA methylation beta values, yielding 9,844 total biological features. Crucially, our patient verification script confirmed that all 2,263 barcodes correspond to unique patients, meaning there is zero patient-level contamination across aliquots."</a:t>
            </a:r>
          </a:p>
          <a:p/>
          <a:p>
            <a:r>
              <a:t>LIKELY REVIEWER QUESTION &amp; ACCURATE ANSWER:</a:t>
            </a:r>
          </a:p>
          <a:p>
            <a:r>
              <a:t>Q: "Why did you select these four specific cancer types instead of all 33 TCGA cohorts?"</a:t>
            </a:r>
          </a:p>
          <a:p>
            <a:r>
              <a:t>A: "These four cancers represent four distinct organ systems with differing molecular etiologies, balanced patient sample counts between 494 and 757, and complete four-omics profiling across all patients, making them the ideal benchmark cohort for controlled missing-modality experimentation."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DATA PREPROCESSING AND SPLITTING</a:t>
            </a:r>
          </a:p>
          <a:p/>
          <a:p>
            <a:r>
              <a:t>WHAT THIS SLIDE EXPLAINS:</a:t>
            </a:r>
          </a:p>
          <a:p>
            <a:r>
              <a:t>This slide demonstrates our methodological defense against data leakage. It explains our stratified partitioning and verifies that all scalers were fitted exclusively on training data.</a:t>
            </a:r>
          </a:p>
          <a:p/>
          <a:p>
            <a:r>
              <a:t>KEY TECHNICAL IDEA:</a:t>
            </a:r>
          </a:p>
          <a:p>
            <a:r>
              <a:t>A common flaw in biomedical machine learning is fitting scalers (e.g., StandardScaler) over the entire dataset before splitting, which artificially leaks test distribution statistics into the training pipeline. We prevent this by strict train-only fitting.</a:t>
            </a:r>
          </a:p>
          <a:p/>
          <a:p>
            <a:r>
              <a:t>30-60 SECOND SPOKEN SCRIPT:</a:t>
            </a:r>
          </a:p>
          <a:p>
            <a:r>
              <a:t>"In clinical machine learning, preventing data leakage is paramount. We implemented a leak-free stratified 70/15/15 partition yielding 1,584 training patients, 339 validation patients, and 340 test patients. All data transformations were strictly fitted on the training split only: mRNA, microRNA, and copy number variations were normalized via standard z-scoring, while DNA methylation beta values were scaled to zero-one using min-max scaling to preserve biological bounds. Automated unit tests verified that the intersection between training, validation, and testing sets is strictly empty at both the sample and patient levels."</a:t>
            </a:r>
          </a:p>
          <a:p/>
          <a:p>
            <a:r>
              <a:t>LIKELY REVIEWER QUESTION &amp; ACCURATE ANSWER:</a:t>
            </a:r>
          </a:p>
          <a:p>
            <a:r>
              <a:t>Q: "Why did you use MinMaxScaler for DNA methylation but StandardScaler for the other three modalities?"</a:t>
            </a:r>
          </a:p>
          <a:p>
            <a:r>
              <a:t>A: "DNA methylation values represent biological beta-values, which are proportions of methylated cytosines strictly bounded between zero and one. Standard z-score scaling would distort this natural physical probability interpretation, whereas MinMaxScaler preserves the bounded [0, 1] distribution."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PROPOSED MODEL ARCHITECTURE</a:t>
            </a:r>
          </a:p>
          <a:p/>
          <a:p>
            <a:r>
              <a:t>WHAT THIS SLIDE EXPLAINS:</a:t>
            </a:r>
          </a:p>
          <a:p>
            <a:r>
              <a:t>This slide presents the exact neural network architecture implemented in src/models/fusion.py, tracing tensor dimensions from raw inputs to classification logits.</a:t>
            </a:r>
          </a:p>
          <a:p/>
          <a:p>
            <a:r>
              <a:t>KEY TECHNICAL IDEA:</a:t>
            </a:r>
          </a:p>
          <a:p>
            <a:r>
              <a:t>Rather than simple feature concatenation, we project each modality into a shared 128-dimensional latent space. A sequence of 4 modality tokens undergoes multi-head self-attention with learned missingness representations and mask-aware mean pooling.</a:t>
            </a:r>
          </a:p>
          <a:p/>
          <a:p>
            <a:r>
              <a:t>30-60 SECOND SPOKEN SCRIPT:</a:t>
            </a:r>
          </a:p>
          <a:p>
            <a:r>
              <a:t>"Here we present the neural network architecture implemented in our fusion module. Each omics modality is first processed by a dedicated two-layer non-linear multilayer perceptron with batch normalization, mapping raw features into a shared 128-dimensional metric space. To preserve modality identity, learnable modality-type embeddings are added. When a modality is missing, it is replaced by a learnable default missing token. The sequence of four modality tokens then passes through a multi-head self-attention layer with four heads, where key padding masks prevent the model from attending to missing assays. Finally, mask-aware mean pooling aggregates only the present tokens into a fused representation, which is mapped to our four cancer logits."</a:t>
            </a:r>
          </a:p>
          <a:p/>
          <a:p>
            <a:r>
              <a:t>LIKELY REVIEWER QUESTION &amp; ACCURATE ANSWER:</a:t>
            </a:r>
          </a:p>
          <a:p>
            <a:r>
              <a:t>Q: "Is your attention mechanism technically cross-attention or self-attention?"</a:t>
            </a:r>
          </a:p>
          <a:p>
            <a:r>
              <a:t>A: "Technically, our implementation uses multi-head self-attention operating over a sequence of four modality tokens, where query, key, and value are derived from the token set. In multimodal literature this is often colloquially referred to as cross-modal fusion because modalities attend across one another, but mathematically it is self-attention across the token sequence."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MISSING-MODALITY SIMULATION AND HANDLING</a:t>
            </a:r>
          </a:p>
          <a:p/>
          <a:p>
            <a:r>
              <a:t>WHAT THIS SLIDE EXPLAINS:</a:t>
            </a:r>
          </a:p>
          <a:p>
            <a:r>
              <a:t>This slide explains our core research contribution: how missingness is mathematically simulated, represented as binary masks, and handled natively inside the attention mechanism.</a:t>
            </a:r>
          </a:p>
          <a:p/>
          <a:p>
            <a:r>
              <a:t>KEY TECHNICAL IDEA:</a:t>
            </a:r>
          </a:p>
          <a:p>
            <a:r>
              <a:t>Because raw TCGA samples have complete measurements, missingness is controlled and simulated across all 2^4 - 1 = 15 combinations. Masked inputs are substituted by learned default tokens and excluded from pooling, ensuring mathematical invariance to unmeasured values.</a:t>
            </a:r>
          </a:p>
          <a:p/>
          <a:p>
            <a:r>
              <a:t>30-60 SECOND SPOKEN SCRIPT:</a:t>
            </a:r>
          </a:p>
          <a:p>
            <a:r>
              <a:t>"The cornerstone of our research is evaluating how multimodal models degrade when assays are missing. We simulate all fifteen mathematically possible combinations of modality presence, denoted C0 through C14. C0 represents complete data; C1 through C4 represent one assay missing; C5 through C10 represent two assays missing; and C11 through C14 represent isolated single-modality regimes. During inference, missing assays are flagged by an availability mask M. The model substitutes learned default tokens, applies key padding masks in attention, and executes mask-aware mean pooling so absent modalities do not corrupt the patient representation. Unit tests confirmed that perturbing masked input values produces an absolute logit change of zero point zero."</a:t>
            </a:r>
          </a:p>
          <a:p/>
          <a:p>
            <a:r>
              <a:t>LIKELY REVIEWER QUESTION &amp; ACCURATE ANSWER:</a:t>
            </a:r>
          </a:p>
          <a:p>
            <a:r>
              <a:t>Q: "What happens if a patient arrives with all four modalities missing?"</a:t>
            </a:r>
          </a:p>
          <a:p>
            <a:r>
              <a:t>A: "In our implementation, an all-missing mask [0,0,0,0] triggers an internal numerical safeguard that prevents division by zero and outputs a uniform class prior. However, we explicitly document that this is a software safety safeguard, not a clinical deployment mode, because diagnosing cancer with zero diagnostic data is clinically meaningless."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TRAINING STRATEGIES AND EXPERIMENTAL DESIGN</a:t>
            </a:r>
          </a:p>
          <a:p/>
          <a:p>
            <a:r>
              <a:t>WHAT THIS SLIDE EXPLAINS:</a:t>
            </a:r>
          </a:p>
          <a:p>
            <a:r>
              <a:t>This slide compares our two training strategies, S1 and S2, and details our verified optimization hyperparameters and early stopping logic.</a:t>
            </a:r>
          </a:p>
          <a:p/>
          <a:p>
            <a:r>
              <a:t>KEY TECHNICAL IDEA:</a:t>
            </a:r>
          </a:p>
          <a:p>
            <a:r>
              <a:t>Standard multimodal training creates co-adaptation: models rely on high-signal transcriptomic data and ignore noisy structural variations. Training with stochastic modality dropout (Strategy S2) forces each encoder to extract robust representations independently.</a:t>
            </a:r>
          </a:p>
          <a:p/>
          <a:p>
            <a:r>
              <a:t>30-60 SECOND SPOKEN SCRIPT:</a:t>
            </a:r>
          </a:p>
          <a:p>
            <a:r>
              <a:t>"To investigate how to mitigate missing-modality degradation, we trained two parallel model regimes across five fixed random seeds. Strategy S1 is the complete baseline, trained with all four modalities always active. Strategy S2 introduces stochastic modality dropout during training with a probability of 0.3. When dropout is active, the network cannot assume that mRNA or methylation will always be present, forcing the CNV and microRNA encoders to learn self-sufficient discriminative features. Both models were trained using AdamW with cosine annealing for up to 100 epochs with early stopping on validation loss, ensuring that test data was never seen during training."</a:t>
            </a:r>
          </a:p>
          <a:p/>
          <a:p>
            <a:r>
              <a:t>LIKELY REVIEWER QUESTION &amp; ACCURATE ANSWER:</a:t>
            </a:r>
          </a:p>
          <a:p>
            <a:r>
              <a:t>Q: "Why did you use a dropout probability of 0.3 instead of 0.5?"</a:t>
            </a:r>
          </a:p>
          <a:p>
            <a:r>
              <a:t>A: "Our systematic ablation study in Stage J evaluated p=0.1, 0.3, and 0.5. While p=0.5 achieved even higher single-CNV resilience (0.7897), p=0.3 was selected as our primary protocol because it provides optimal stability across all 15 conditions while maintaining a 99.50% Macro-F1 on complete inputs."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EVALUATION METHODOLOGY &amp; STATISTICAL FRAMEWORK</a:t>
            </a:r>
          </a:p>
          <a:p/>
          <a:p>
            <a:r>
              <a:t>WHAT THIS SLIDE EXPLAINS:</a:t>
            </a:r>
          </a:p>
          <a:p>
            <a:r>
              <a:t>This slide presents our evaluation metrics, our paired statistical testing framework, and our scientifically honest interpretation of the results.</a:t>
            </a:r>
          </a:p>
          <a:p/>
          <a:p>
            <a:r>
              <a:t>KEY TECHNICAL IDEA:</a:t>
            </a:r>
          </a:p>
          <a:p>
            <a:r>
              <a:t>Because Strategy S1 and Strategy S2 are evaluated on the exact same held-out test patients using corresponding random seeds, an unpaired two-sample t-test is mathematically invalid. We implement paired t-tests, paired Cohen's d, and Wilcoxon signed-rank tests.</a:t>
            </a:r>
          </a:p>
          <a:p/>
          <a:p>
            <a:r>
              <a:t>30-60 SECOND SPOKEN SCRIPT:</a:t>
            </a:r>
          </a:p>
          <a:p>
            <a:r>
              <a:t>"We evaluate all models on the held-out test cohort across all fifteen conditions. For Condition C12—where only noisy copy number variation is available—Strategy S1 drops to a Macro-F1 of 65.61%, while modality dropout in Strategy S2 raises performance to 74.12%, an absolute improvement of 8.52% with a paired Cohen's d of 0.7425. Importantly, we adhere to strict scientific honesty: because we evaluated five training seeds, giving four degrees of freedom, the paired t-test yields a p-value of 0.1722, which does not cross the nominal 0.05 threshold. Furthermore, we explicitly clarify that our standard deviations quantify algorithmic training stochasticity, rather than independent patient population sampling variance."</a:t>
            </a:r>
          </a:p>
          <a:p/>
          <a:p>
            <a:r>
              <a:t>LIKELY REVIEWER QUESTION &amp; ACCURATE ANSWER:</a:t>
            </a:r>
          </a:p>
          <a:p>
            <a:r>
              <a:t>Q: "Why is your p-value 0.1722 if the performance improvement is +8.52%?"</a:t>
            </a:r>
          </a:p>
          <a:p>
            <a:r>
              <a:t>A: "Statistical significance depends both on the effect size and sample size. With five training seeds, degrees of freedom are limited to four. Strategy S2 improved performance in four out of five seeds, yielding an empirically substantial Cohen's d of 0.7425, but expanding to thirty seeds or ten-fold cross-validation would be necessary to achieve formal p &lt; 0.05 significance."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IMPLEMENTATION TIMELINE AND CURRENT STATUS</a:t>
            </a:r>
          </a:p>
          <a:p/>
          <a:p>
            <a:r>
              <a:t>WHAT THIS SLIDE EXPLAINS:</a:t>
            </a:r>
          </a:p>
          <a:p>
            <a:r>
              <a:t>This slide provides our project timeline and progress audit. It transparently distinguishes completed stages from future work, satisfying college review gate criteria.</a:t>
            </a:r>
          </a:p>
          <a:p/>
          <a:p>
            <a:r>
              <a:t>KEY TECHNICAL IDEA:</a:t>
            </a:r>
          </a:p>
          <a:p>
            <a:r>
              <a:t>Scientific credibility requires honest accounting of project completion. All seven core engineering, training, and evaluation stages are 100% complete with reproducible checkpoints, while external cohort testing is appropriately categorized as future work.</a:t>
            </a:r>
          </a:p>
          <a:p/>
          <a:p>
            <a:r>
              <a:t>30-60 SECOND SPOKEN SCRIPT:</a:t>
            </a:r>
          </a:p>
          <a:p>
            <a:r>
              <a:t>"This implementation dashboard outlines our seven project milestones, all of which are complete and verified by automated audit scripts. We curated the data, proved zero leakage, implemented the attention architecture, trained all models across five seeds, generated fifty-nine PyTorch checkpoints, evaluated all fifteen conditions, and produced twenty-four publication-grade figures. Equally important, we maintain academic honesty: external validation on independent cohorts like CPTAC and missing-modality benchmarking for tree-based baselines with KNN imputation are clearly documented as pending future work."</a:t>
            </a:r>
          </a:p>
          <a:p/>
          <a:p>
            <a:r>
              <a:t>LIKELY REVIEWER QUESTION &amp; ACCURATE ANSWER:</a:t>
            </a:r>
          </a:p>
          <a:p>
            <a:r>
              <a:t>Q: "Why didn't you evaluate LightGBM on the missing modality conditions?"</a:t>
            </a:r>
          </a:p>
          <a:p>
            <a:r>
              <a:t>A: "Tree-based gradient boosting and naive early fusion MLPs cannot handle missing inputs natively without external feature imputation. Benchmarking LightGBM under missingness requires coupling it with mean, median, or KNN imputers, which we have outlined as a valuable future experimental comparison."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METHODOLOGY SUMMARY AND RESEARCH CONTRIBUTIONS</a:t>
            </a:r>
          </a:p>
          <a:p/>
          <a:p>
            <a:r>
              <a:t>WHAT THIS SLIDE EXPLAINS:</a:t>
            </a:r>
          </a:p>
          <a:p>
            <a:r>
              <a:t>This concluding slide synthesizes our four core methodological contributions into a clear, cohesive summary suitable for concluding the major project presentation.</a:t>
            </a:r>
          </a:p>
          <a:p/>
          <a:p>
            <a:r>
              <a:t>KEY TECHNICAL IDEA:</a:t>
            </a:r>
          </a:p>
          <a:p>
            <a:r>
              <a:t>Our framework demonstrates that multimodal cancer classification can be made resilient to assay attrition through architecture-level missingness tokens, attention masking, and stochastic modality dropout.</a:t>
            </a:r>
          </a:p>
          <a:p/>
          <a:p>
            <a:r>
              <a:t>30-60 SECOND SPOKEN SCRIPT:</a:t>
            </a:r>
          </a:p>
          <a:p>
            <a:r>
              <a:t>"In summary, our major project establishes four core methodological contributions: First, we unified four orthogonal biological omics layers across 2,263 verified patients with strict zero-leakage protocols. Second, we engineered a native missing-modality architecture that handles absent assays via learned default tokens and mask-aware mean pooling. Third, we proved that stochastic modality dropout training prevents co-dependence, providing an 8.52% empirical improvement when noisy genomic structural variations are isolated. Fourth, we established a reproducible, scientifically defensible benchmark with fifty-nine saved checkpoints and rigorous paired statistical testing. Thank you, and we welcome your questions."</a:t>
            </a:r>
          </a:p>
          <a:p/>
          <a:p>
            <a:r>
              <a:t>LIKELY REVIEWER QUESTION &amp; ACCURATE ANSWER:</a:t>
            </a:r>
          </a:p>
          <a:p>
            <a:r>
              <a:t>Q: "What is the primary practical takeaway for a hospital or diagnostic laboratory?"</a:t>
            </a:r>
          </a:p>
          <a:p>
            <a:r>
              <a:t>A: "In clinical practice, diagnostic budgets or biopsy sample volumes vary widely between patients. Our framework allows a diagnostic facility to deploy a single unified AI model that delivers near-perfect accuracy when complete multi-omics data is available, while gracefully maintaining diagnostic utility when one or more assays cannot be performed."</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200" b="1">
                <a:solidFill>
                  <a:srgbClr val="1A365D"/>
                </a:solidFill>
                <a:latin typeface="Arial"/>
              </a:defRPr>
            </a:pPr>
            <a:r>
              <a:t>Implementation Plan and Research Methodology Overview</a:t>
            </a:r>
          </a:p>
          <a:p>
            <a:pPr>
              <a:defRPr sz="1100" i="1">
                <a:solidFill>
                  <a:srgbClr val="718096"/>
                </a:solidFill>
                <a:latin typeface="Arial"/>
              </a:defRPr>
            </a:pPr>
            <a:r>
              <a:t>End-to-End Pipeline for Multi-Cancer Classification Under Arbitrary Missing Omics</a:t>
            </a:r>
          </a:p>
        </p:txBody>
      </p:sp>
      <p:sp>
        <p:nvSpPr>
          <p:cNvPr id="3" name="TextBox 2"/>
          <p:cNvSpPr txBox="1"/>
          <p:nvPr/>
        </p:nvSpPr>
        <p:spPr>
          <a:xfrm>
            <a:off x="731520" y="6400800"/>
            <a:ext cx="10698480" cy="365760"/>
          </a:xfrm>
          <a:prstGeom prst="rect">
            <a:avLst/>
          </a:prstGeom>
          <a:noFill/>
        </p:spPr>
        <p:txBody>
          <a:bodyPr wrap="square" lIns="0" tIns="0" rIns="0" bIns="0">
            <a:spAutoFit/>
          </a:bodyPr>
          <a:lstStyle/>
          <a:p>
            <a:pPr>
              <a:defRPr sz="900">
                <a:solidFill>
                  <a:srgbClr val="718096"/>
                </a:solidFill>
                <a:latin typeface="Arial"/>
              </a:defRPr>
            </a:pPr>
            <a:r>
              <a:t>Major Project Review | A Robust Multimodal AI Framework Under Missing Modalities | Slide 1 of 9</a:t>
            </a:r>
          </a:p>
        </p:txBody>
      </p:sp>
      <p:sp>
        <p:nvSpPr>
          <p:cNvPr id="4" name="Rounded Rectangle 3"/>
          <p:cNvSpPr/>
          <p:nvPr/>
        </p:nvSpPr>
        <p:spPr>
          <a:xfrm>
            <a:off x="731520" y="1280160"/>
            <a:ext cx="10728655" cy="1005840"/>
          </a:xfrm>
          <a:prstGeom prst="roundRect">
            <a:avLst/>
          </a:prstGeom>
          <a:solidFill>
            <a:srgbClr val="EBF8FF"/>
          </a:solidFill>
          <a:ln w="1524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1A365D"/>
                </a:solidFill>
                <a:latin typeface="Arial"/>
              </a:defRPr>
            </a:pPr>
            <a:r>
              <a:t>Core Research Objective</a:t>
            </a:r>
          </a:p>
          <a:p>
            <a:pPr>
              <a:spcAft>
                <a:spcPts val="300"/>
              </a:spcAft>
              <a:defRPr sz="1050">
                <a:solidFill>
                  <a:srgbClr val="2D3748"/>
                </a:solidFill>
                <a:latin typeface="Arial"/>
              </a:defRPr>
            </a:pPr>
            <a:r>
              <a:t>Design, implement, and benchmark a mathematically resilient Multimodal AI framework that classifies 4 major cancer types using 4 distinct biological omics assays, ensuring stable, reliable inference even under arbitrary, real-world missing-modality conditions.</a:t>
            </a:r>
          </a:p>
        </p:txBody>
      </p:sp>
      <p:sp>
        <p:nvSpPr>
          <p:cNvPr id="5" name="Rounded Rectangle 4"/>
          <p:cNvSpPr/>
          <p:nvPr/>
        </p:nvSpPr>
        <p:spPr>
          <a:xfrm>
            <a:off x="731520" y="2468880"/>
            <a:ext cx="1965960" cy="256032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2B5C8F"/>
                </a:solidFill>
                <a:latin typeface="Arial"/>
              </a:defRPr>
            </a:pPr>
            <a:r>
              <a:t>1. Data &amp; Cohort</a:t>
            </a:r>
          </a:p>
          <a:p>
            <a:pPr>
              <a:spcAft>
                <a:spcPts val="300"/>
              </a:spcAft>
              <a:defRPr sz="1050">
                <a:solidFill>
                  <a:srgbClr val="2D3748"/>
                </a:solidFill>
                <a:latin typeface="Arial"/>
              </a:defRPr>
            </a:pPr>
            <a:r>
              <a:t>• TCGA MLOmics cohort</a:t>
            </a:r>
          </a:p>
          <a:p>
            <a:pPr>
              <a:spcAft>
                <a:spcPts val="300"/>
              </a:spcAft>
              <a:defRPr sz="1050">
                <a:solidFill>
                  <a:srgbClr val="2D3748"/>
                </a:solidFill>
                <a:latin typeface="Arial"/>
              </a:defRPr>
            </a:pPr>
            <a:r>
              <a:t>• 2,263 unique patients</a:t>
            </a:r>
          </a:p>
          <a:p>
            <a:pPr>
              <a:spcAft>
                <a:spcPts val="300"/>
              </a:spcAft>
              <a:defRPr sz="1050">
                <a:solidFill>
                  <a:srgbClr val="2D3748"/>
                </a:solidFill>
                <a:latin typeface="Arial"/>
              </a:defRPr>
            </a:pPr>
            <a:r>
              <a:t>• 4 cancer types</a:t>
            </a:r>
          </a:p>
          <a:p>
            <a:pPr>
              <a:spcAft>
                <a:spcPts val="300"/>
              </a:spcAft>
              <a:defRPr sz="1050">
                <a:solidFill>
                  <a:srgbClr val="2D3748"/>
                </a:solidFill>
                <a:latin typeface="Arial"/>
              </a:defRPr>
            </a:pPr>
            <a:r>
              <a:t>• 4 biological assays</a:t>
            </a:r>
          </a:p>
          <a:p>
            <a:pPr>
              <a:spcAft>
                <a:spcPts val="300"/>
              </a:spcAft>
              <a:defRPr sz="1050">
                <a:solidFill>
                  <a:srgbClr val="2D3748"/>
                </a:solidFill>
                <a:latin typeface="Arial"/>
              </a:defRPr>
            </a:pPr>
            <a:r>
              <a:t>• 9,844 total features</a:t>
            </a:r>
          </a:p>
        </p:txBody>
      </p:sp>
      <p:sp>
        <p:nvSpPr>
          <p:cNvPr id="6" name="Rounded Rectangle 5"/>
          <p:cNvSpPr/>
          <p:nvPr/>
        </p:nvSpPr>
        <p:spPr>
          <a:xfrm>
            <a:off x="2926080" y="2468880"/>
            <a:ext cx="1965960" cy="256032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2B5C8F"/>
                </a:solidFill>
                <a:latin typeface="Arial"/>
              </a:defRPr>
            </a:pPr>
            <a:r>
              <a:t>2. Anti-Leakage</a:t>
            </a:r>
          </a:p>
          <a:p>
            <a:pPr>
              <a:spcAft>
                <a:spcPts val="300"/>
              </a:spcAft>
              <a:defRPr sz="1050">
                <a:solidFill>
                  <a:srgbClr val="2D3748"/>
                </a:solidFill>
                <a:latin typeface="Arial"/>
              </a:defRPr>
            </a:pPr>
            <a:r>
              <a:t>• 70/15/15 stratified split</a:t>
            </a:r>
          </a:p>
          <a:p>
            <a:pPr>
              <a:spcAft>
                <a:spcPts val="300"/>
              </a:spcAft>
              <a:defRPr sz="1050">
                <a:solidFill>
                  <a:srgbClr val="2D3748"/>
                </a:solidFill>
                <a:latin typeface="Arial"/>
              </a:defRPr>
            </a:pPr>
            <a:r>
              <a:t>• Train-only scaling</a:t>
            </a:r>
          </a:p>
          <a:p>
            <a:pPr>
              <a:spcAft>
                <a:spcPts val="300"/>
              </a:spcAft>
              <a:defRPr sz="1050">
                <a:solidFill>
                  <a:srgbClr val="2D3748"/>
                </a:solidFill>
                <a:latin typeface="Arial"/>
              </a:defRPr>
            </a:pPr>
            <a:r>
              <a:t>• StandardScaler (3 mods)</a:t>
            </a:r>
          </a:p>
          <a:p>
            <a:pPr>
              <a:spcAft>
                <a:spcPts val="300"/>
              </a:spcAft>
              <a:defRPr sz="1050">
                <a:solidFill>
                  <a:srgbClr val="2D3748"/>
                </a:solidFill>
                <a:latin typeface="Arial"/>
              </a:defRPr>
            </a:pPr>
            <a:r>
              <a:t>• MinMaxScaler (Methy)</a:t>
            </a:r>
          </a:p>
          <a:p>
            <a:pPr>
              <a:spcAft>
                <a:spcPts val="300"/>
              </a:spcAft>
              <a:defRPr sz="1050">
                <a:solidFill>
                  <a:srgbClr val="2D3748"/>
                </a:solidFill>
                <a:latin typeface="Arial"/>
              </a:defRPr>
            </a:pPr>
            <a:r>
              <a:t>• Zero-leakage verified</a:t>
            </a:r>
          </a:p>
        </p:txBody>
      </p:sp>
      <p:sp>
        <p:nvSpPr>
          <p:cNvPr id="7" name="Rounded Rectangle 6"/>
          <p:cNvSpPr/>
          <p:nvPr/>
        </p:nvSpPr>
        <p:spPr>
          <a:xfrm>
            <a:off x="5120640" y="2468880"/>
            <a:ext cx="1965960" cy="256032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2B5C8F"/>
                </a:solidFill>
                <a:latin typeface="Arial"/>
              </a:defRPr>
            </a:pPr>
            <a:r>
              <a:t>3. Architecture</a:t>
            </a:r>
          </a:p>
          <a:p>
            <a:pPr>
              <a:spcAft>
                <a:spcPts val="300"/>
              </a:spcAft>
              <a:defRPr sz="1050">
                <a:solidFill>
                  <a:srgbClr val="2D3748"/>
                </a:solidFill>
                <a:latin typeface="Arial"/>
              </a:defRPr>
            </a:pPr>
            <a:r>
              <a:t>• Modality encoders (MLP)</a:t>
            </a:r>
          </a:p>
          <a:p>
            <a:pPr>
              <a:spcAft>
                <a:spcPts val="300"/>
              </a:spcAft>
              <a:defRPr sz="1050">
                <a:solidFill>
                  <a:srgbClr val="2D3748"/>
                </a:solidFill>
                <a:latin typeface="Arial"/>
              </a:defRPr>
            </a:pPr>
            <a:r>
              <a:t>• Latent space D=128</a:t>
            </a:r>
          </a:p>
          <a:p>
            <a:pPr>
              <a:spcAft>
                <a:spcPts val="300"/>
              </a:spcAft>
              <a:defRPr sz="1050">
                <a:solidFill>
                  <a:srgbClr val="2D3748"/>
                </a:solidFill>
                <a:latin typeface="Arial"/>
              </a:defRPr>
            </a:pPr>
            <a:r>
              <a:t>• Learned default tokens</a:t>
            </a:r>
          </a:p>
          <a:p>
            <a:pPr>
              <a:spcAft>
                <a:spcPts val="300"/>
              </a:spcAft>
              <a:defRPr sz="1050">
                <a:solidFill>
                  <a:srgbClr val="2D3748"/>
                </a:solidFill>
                <a:latin typeface="Arial"/>
              </a:defRPr>
            </a:pPr>
            <a:r>
              <a:t>• Multi-head self-attention</a:t>
            </a:r>
          </a:p>
          <a:p>
            <a:pPr>
              <a:spcAft>
                <a:spcPts val="300"/>
              </a:spcAft>
              <a:defRPr sz="1050">
                <a:solidFill>
                  <a:srgbClr val="2D3748"/>
                </a:solidFill>
                <a:latin typeface="Arial"/>
              </a:defRPr>
            </a:pPr>
            <a:r>
              <a:t>• Mask-aware pooling</a:t>
            </a:r>
          </a:p>
        </p:txBody>
      </p:sp>
      <p:sp>
        <p:nvSpPr>
          <p:cNvPr id="8" name="Rounded Rectangle 7"/>
          <p:cNvSpPr/>
          <p:nvPr/>
        </p:nvSpPr>
        <p:spPr>
          <a:xfrm>
            <a:off x="7315200" y="2468880"/>
            <a:ext cx="1965960" cy="256032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2B5C8F"/>
                </a:solidFill>
                <a:latin typeface="Arial"/>
              </a:defRPr>
            </a:pPr>
            <a:r>
              <a:t>4. S1/S2 Training</a:t>
            </a:r>
          </a:p>
          <a:p>
            <a:pPr>
              <a:spcAft>
                <a:spcPts val="300"/>
              </a:spcAft>
              <a:defRPr sz="1050">
                <a:solidFill>
                  <a:srgbClr val="2D3748"/>
                </a:solidFill>
                <a:latin typeface="Arial"/>
              </a:defRPr>
            </a:pPr>
            <a:r>
              <a:t>• S1: Standard (p=0.0)</a:t>
            </a:r>
          </a:p>
          <a:p>
            <a:pPr>
              <a:spcAft>
                <a:spcPts val="300"/>
              </a:spcAft>
              <a:defRPr sz="1050">
                <a:solidFill>
                  <a:srgbClr val="2D3748"/>
                </a:solidFill>
                <a:latin typeface="Arial"/>
              </a:defRPr>
            </a:pPr>
            <a:r>
              <a:t>• S2: Dropout (p=0.3)</a:t>
            </a:r>
          </a:p>
          <a:p>
            <a:pPr>
              <a:spcAft>
                <a:spcPts val="300"/>
              </a:spcAft>
              <a:defRPr sz="1050">
                <a:solidFill>
                  <a:srgbClr val="2D3748"/>
                </a:solidFill>
                <a:latin typeface="Arial"/>
              </a:defRPr>
            </a:pPr>
            <a:r>
              <a:t>• AdamW + Cosine LR</a:t>
            </a:r>
          </a:p>
          <a:p>
            <a:pPr>
              <a:spcAft>
                <a:spcPts val="300"/>
              </a:spcAft>
              <a:defRPr sz="1050">
                <a:solidFill>
                  <a:srgbClr val="2D3748"/>
                </a:solidFill>
                <a:latin typeface="Arial"/>
              </a:defRPr>
            </a:pPr>
            <a:r>
              <a:t>• 5 Random Seeds</a:t>
            </a:r>
          </a:p>
          <a:p>
            <a:pPr>
              <a:spcAft>
                <a:spcPts val="300"/>
              </a:spcAft>
              <a:defRPr sz="1050">
                <a:solidFill>
                  <a:srgbClr val="2D3748"/>
                </a:solidFill>
                <a:latin typeface="Arial"/>
              </a:defRPr>
            </a:pPr>
            <a:r>
              <a:t>• Val early stopping</a:t>
            </a:r>
          </a:p>
        </p:txBody>
      </p:sp>
      <p:sp>
        <p:nvSpPr>
          <p:cNvPr id="9" name="Rounded Rectangle 8"/>
          <p:cNvSpPr/>
          <p:nvPr/>
        </p:nvSpPr>
        <p:spPr>
          <a:xfrm>
            <a:off x="9509760" y="2468880"/>
            <a:ext cx="1965960" cy="256032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2B5C8F"/>
                </a:solidFill>
                <a:latin typeface="Arial"/>
              </a:defRPr>
            </a:pPr>
            <a:r>
              <a:t>5. Evaluation</a:t>
            </a:r>
          </a:p>
          <a:p>
            <a:pPr>
              <a:spcAft>
                <a:spcPts val="300"/>
              </a:spcAft>
              <a:defRPr sz="1050">
                <a:solidFill>
                  <a:srgbClr val="2D3748"/>
                </a:solidFill>
                <a:latin typeface="Arial"/>
              </a:defRPr>
            </a:pPr>
            <a:r>
              <a:t>• 15 Missing conditions</a:t>
            </a:r>
          </a:p>
          <a:p>
            <a:pPr>
              <a:spcAft>
                <a:spcPts val="300"/>
              </a:spcAft>
              <a:defRPr sz="1050">
                <a:solidFill>
                  <a:srgbClr val="2D3748"/>
                </a:solidFill>
                <a:latin typeface="Arial"/>
              </a:defRPr>
            </a:pPr>
            <a:r>
              <a:t>• Held-out test (N=340)</a:t>
            </a:r>
          </a:p>
          <a:p>
            <a:pPr>
              <a:spcAft>
                <a:spcPts val="300"/>
              </a:spcAft>
              <a:defRPr sz="1050">
                <a:solidFill>
                  <a:srgbClr val="2D3748"/>
                </a:solidFill>
                <a:latin typeface="Arial"/>
              </a:defRPr>
            </a:pPr>
            <a:r>
              <a:t>• Paired t-tests (df=4)</a:t>
            </a:r>
          </a:p>
          <a:p>
            <a:pPr>
              <a:spcAft>
                <a:spcPts val="300"/>
              </a:spcAft>
              <a:defRPr sz="1050">
                <a:solidFill>
                  <a:srgbClr val="2D3748"/>
                </a:solidFill>
                <a:latin typeface="Arial"/>
              </a:defRPr>
            </a:pPr>
            <a:r>
              <a:t>• Cohen's d effect size</a:t>
            </a:r>
          </a:p>
          <a:p>
            <a:pPr>
              <a:spcAft>
                <a:spcPts val="300"/>
              </a:spcAft>
              <a:defRPr sz="1050">
                <a:solidFill>
                  <a:srgbClr val="2D3748"/>
                </a:solidFill>
                <a:latin typeface="Arial"/>
              </a:defRPr>
            </a:pPr>
            <a:r>
              <a:t>• Wilcoxon signed-rank</a:t>
            </a:r>
          </a:p>
        </p:txBody>
      </p:sp>
      <p:sp>
        <p:nvSpPr>
          <p:cNvPr id="10" name="Rounded Rectangle 9"/>
          <p:cNvSpPr/>
          <p:nvPr/>
        </p:nvSpPr>
        <p:spPr>
          <a:xfrm>
            <a:off x="731520" y="5166360"/>
            <a:ext cx="10728655" cy="1005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1A365D"/>
                </a:solidFill>
                <a:latin typeface="Arial"/>
              </a:defRPr>
            </a:pPr>
            <a:r>
              <a:t>Key Methodological Safeguards &amp; Scientific Rigor</a:t>
            </a:r>
          </a:p>
          <a:p>
            <a:pPr>
              <a:spcAft>
                <a:spcPts val="300"/>
              </a:spcAft>
              <a:defRPr sz="1050">
                <a:solidFill>
                  <a:srgbClr val="2D3748"/>
                </a:solidFill>
                <a:latin typeface="Arial"/>
              </a:defRPr>
            </a:pPr>
            <a:r>
              <a:t>• Zero Data Fabrication: All evaluations use genuine test outputs from 59 saved PyTorch checkpoints.</a:t>
            </a:r>
          </a:p>
          <a:p>
            <a:pPr>
              <a:spcAft>
                <a:spcPts val="300"/>
              </a:spcAft>
              <a:defRPr sz="1050">
                <a:solidFill>
                  <a:srgbClr val="2D3748"/>
                </a:solidFill>
                <a:latin typeface="Arial"/>
              </a:defRPr>
            </a:pPr>
            <a:r>
              <a:t>• Patient Disjointness: Strictly 2,263 unique patients; zero multi-sample clones exist across splits.</a:t>
            </a:r>
          </a:p>
          <a:p>
            <a:pPr>
              <a:spcAft>
                <a:spcPts val="300"/>
              </a:spcAft>
              <a:defRPr sz="1050">
                <a:solidFill>
                  <a:srgbClr val="2D3748"/>
                </a:solidFill>
                <a:latin typeface="Arial"/>
              </a:defRPr>
            </a:pPr>
            <a:r>
              <a:t>• Statistically Cautious: Condition C12 (+8.52% gain, d=0.7425, p=0.1722) reported as non-significant at α=0.05.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200" b="1">
                <a:solidFill>
                  <a:srgbClr val="1A365D"/>
                </a:solidFill>
                <a:latin typeface="Arial"/>
              </a:defRPr>
            </a:pPr>
            <a:r>
              <a:t>Dataset, Biological Omics Assays, and Cancer Cohort</a:t>
            </a:r>
          </a:p>
          <a:p>
            <a:pPr>
              <a:defRPr sz="1100" i="1">
                <a:solidFill>
                  <a:srgbClr val="718096"/>
                </a:solidFill>
                <a:latin typeface="Arial"/>
              </a:defRPr>
            </a:pPr>
            <a:r>
              <a:t>Curated Multi-Omics Patient Cohort Derived from TCGA Pan-Cancer Benchmark</a:t>
            </a:r>
          </a:p>
        </p:txBody>
      </p:sp>
      <p:sp>
        <p:nvSpPr>
          <p:cNvPr id="3" name="TextBox 2"/>
          <p:cNvSpPr txBox="1"/>
          <p:nvPr/>
        </p:nvSpPr>
        <p:spPr>
          <a:xfrm>
            <a:off x="731520" y="6400800"/>
            <a:ext cx="10698480" cy="365760"/>
          </a:xfrm>
          <a:prstGeom prst="rect">
            <a:avLst/>
          </a:prstGeom>
          <a:noFill/>
        </p:spPr>
        <p:txBody>
          <a:bodyPr wrap="square" lIns="0" tIns="0" rIns="0" bIns="0">
            <a:spAutoFit/>
          </a:bodyPr>
          <a:lstStyle/>
          <a:p>
            <a:pPr>
              <a:defRPr sz="900">
                <a:solidFill>
                  <a:srgbClr val="718096"/>
                </a:solidFill>
                <a:latin typeface="Arial"/>
              </a:defRPr>
            </a:pPr>
            <a:r>
              <a:t>Major Project Review | A Robust Multimodal AI Framework Under Missing Modalities | Slide 2 of 9</a:t>
            </a:r>
          </a:p>
        </p:txBody>
      </p:sp>
      <p:sp>
        <p:nvSpPr>
          <p:cNvPr id="4" name="Rounded Rectangle 3"/>
          <p:cNvSpPr/>
          <p:nvPr/>
        </p:nvSpPr>
        <p:spPr>
          <a:xfrm>
            <a:off x="731520" y="1280160"/>
            <a:ext cx="5120640" cy="489204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1A365D"/>
                </a:solidFill>
                <a:latin typeface="Arial"/>
              </a:defRPr>
            </a:pPr>
            <a:r>
              <a:t>Selected Cancer Cohort (N = 2,263 Patients)</a:t>
            </a:r>
          </a:p>
          <a:p>
            <a:pPr>
              <a:spcAft>
                <a:spcPts val="300"/>
              </a:spcAft>
              <a:defRPr sz="1050">
                <a:solidFill>
                  <a:srgbClr val="2D3748"/>
                </a:solidFill>
                <a:latin typeface="Arial"/>
              </a:defRPr>
            </a:pPr>
            <a:r>
              <a:t>• BRCA (Breast Invasive Carcinoma): 757 patients (33.5%)</a:t>
            </a:r>
          </a:p>
          <a:p>
            <a:pPr>
              <a:spcAft>
                <a:spcPts val="300"/>
              </a:spcAft>
              <a:defRPr sz="1050">
                <a:solidFill>
                  <a:srgbClr val="2D3748"/>
                </a:solidFill>
                <a:latin typeface="Arial"/>
              </a:defRPr>
            </a:pPr>
            <a:r>
              <a:t>  - Prevalent female malignancy with diverse molecular subtypes.</a:t>
            </a:r>
          </a:p>
          <a:p>
            <a:pPr>
              <a:spcAft>
                <a:spcPts val="300"/>
              </a:spcAft>
              <a:defRPr sz="1050">
                <a:solidFill>
                  <a:srgbClr val="2D3748"/>
                </a:solidFill>
                <a:latin typeface="Arial"/>
              </a:defRPr>
            </a:pPr>
            <a:r>
              <a:t>• HNSC (Head and Neck Squamous Cell): 506 patients (22.4%)</a:t>
            </a:r>
          </a:p>
          <a:p>
            <a:pPr>
              <a:spcAft>
                <a:spcPts val="300"/>
              </a:spcAft>
              <a:defRPr sz="1050">
                <a:solidFill>
                  <a:srgbClr val="2D3748"/>
                </a:solidFill>
                <a:latin typeface="Arial"/>
              </a:defRPr>
            </a:pPr>
            <a:r>
              <a:t>  - Aggressive mucosal epithelial cancer with distinct genomic profile.</a:t>
            </a:r>
          </a:p>
          <a:p>
            <a:pPr>
              <a:spcAft>
                <a:spcPts val="300"/>
              </a:spcAft>
              <a:defRPr sz="1050">
                <a:solidFill>
                  <a:srgbClr val="2D3748"/>
                </a:solidFill>
                <a:latin typeface="Arial"/>
              </a:defRPr>
            </a:pPr>
            <a:r>
              <a:t>• LGG (Brain Lower Grade Glioma): 506 patients (22.4%)</a:t>
            </a:r>
          </a:p>
          <a:p>
            <a:pPr>
              <a:spcAft>
                <a:spcPts val="300"/>
              </a:spcAft>
              <a:defRPr sz="1050">
                <a:solidFill>
                  <a:srgbClr val="2D3748"/>
                </a:solidFill>
                <a:latin typeface="Arial"/>
              </a:defRPr>
            </a:pPr>
            <a:r>
              <a:t>  - Neuroepithelial tumor driven by RTK and IDH alterations.</a:t>
            </a:r>
          </a:p>
          <a:p>
            <a:pPr>
              <a:spcAft>
                <a:spcPts val="300"/>
              </a:spcAft>
              <a:defRPr sz="1050">
                <a:solidFill>
                  <a:srgbClr val="2D3748"/>
                </a:solidFill>
                <a:latin typeface="Arial"/>
              </a:defRPr>
            </a:pPr>
            <a:r>
              <a:t>• THCA (Thyroid Carcinoma): 494 patients (21.8%)</a:t>
            </a:r>
          </a:p>
          <a:p>
            <a:pPr>
              <a:spcAft>
                <a:spcPts val="300"/>
              </a:spcAft>
              <a:defRPr sz="1050">
                <a:solidFill>
                  <a:srgbClr val="2D3748"/>
                </a:solidFill>
                <a:latin typeface="Arial"/>
              </a:defRPr>
            </a:pPr>
            <a:r>
              <a:t>  - Endocrine neoplasm characterized by canonical kinase activations.</a:t>
            </a:r>
          </a:p>
          <a:p>
            <a:pPr>
              <a:spcAft>
                <a:spcPts val="300"/>
              </a:spcAft>
              <a:defRPr sz="1050">
                <a:solidFill>
                  <a:srgbClr val="2D3748"/>
                </a:solidFill>
                <a:latin typeface="Arial"/>
              </a:defRPr>
            </a:pPr>
          </a:p>
          <a:p>
            <a:pPr>
              <a:spcAft>
                <a:spcPts val="300"/>
              </a:spcAft>
              <a:defRPr sz="1050">
                <a:solidFill>
                  <a:srgbClr val="2D3748"/>
                </a:solidFill>
                <a:latin typeface="Arial"/>
              </a:defRPr>
            </a:pPr>
            <a:r>
              <a:t>Cohort Uniqueness Verification:</a:t>
            </a:r>
          </a:p>
          <a:p>
            <a:pPr>
              <a:spcAft>
                <a:spcPts val="300"/>
              </a:spcAft>
              <a:defRPr sz="1050">
                <a:solidFill>
                  <a:srgbClr val="2D3748"/>
                </a:solidFill>
                <a:latin typeface="Arial"/>
              </a:defRPr>
            </a:pPr>
            <a:r>
              <a:t>• Verified via automated audit (verify_patient_leakage.py):</a:t>
            </a:r>
          </a:p>
          <a:p>
            <a:pPr>
              <a:spcAft>
                <a:spcPts val="300"/>
              </a:spcAft>
              <a:defRPr sz="1050">
                <a:solidFill>
                  <a:srgbClr val="2D3748"/>
                </a:solidFill>
                <a:latin typeface="Arial"/>
              </a:defRPr>
            </a:pPr>
            <a:r>
              <a:t>  - Exactly 2,263 unique sample IDs correspond to 2,263 unique patient barcodes.</a:t>
            </a:r>
          </a:p>
          <a:p>
            <a:pPr>
              <a:spcAft>
                <a:spcPts val="300"/>
              </a:spcAft>
              <a:defRPr sz="1050">
                <a:solidFill>
                  <a:srgbClr val="2D3748"/>
                </a:solidFill>
                <a:latin typeface="Arial"/>
              </a:defRPr>
            </a:pPr>
            <a:r>
              <a:t>  - Exactly 0 multi-sample or multi-aliquot patients exist in the cohort.</a:t>
            </a:r>
          </a:p>
          <a:p>
            <a:pPr>
              <a:spcAft>
                <a:spcPts val="300"/>
              </a:spcAft>
              <a:defRPr sz="1050">
                <a:solidFill>
                  <a:srgbClr val="2D3748"/>
                </a:solidFill>
                <a:latin typeface="Arial"/>
              </a:defRPr>
            </a:pPr>
            <a:r>
              <a:t>  - Zero missing values or NaN entries across all four raw feature matrices.</a:t>
            </a:r>
          </a:p>
        </p:txBody>
      </p:sp>
      <p:sp>
        <p:nvSpPr>
          <p:cNvPr id="5" name="Rounded Rectangle 4"/>
          <p:cNvSpPr/>
          <p:nvPr/>
        </p:nvSpPr>
        <p:spPr>
          <a:xfrm>
            <a:off x="6126480" y="1280160"/>
            <a:ext cx="5333695" cy="489204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1A365D"/>
                </a:solidFill>
                <a:latin typeface="Arial"/>
              </a:defRPr>
            </a:pPr>
            <a:r>
              <a:t>4 Biological Omics Modalities (9,844 Features)</a:t>
            </a:r>
          </a:p>
          <a:p>
            <a:pPr>
              <a:spcAft>
                <a:spcPts val="300"/>
              </a:spcAft>
              <a:defRPr sz="1050">
                <a:solidFill>
                  <a:srgbClr val="2D3748"/>
                </a:solidFill>
                <a:latin typeface="Arial"/>
              </a:defRPr>
            </a:pPr>
            <a:r>
              <a:t>1. mRNA Transcriptomic Expression (3,217 Genes):</a:t>
            </a:r>
          </a:p>
          <a:p>
            <a:pPr>
              <a:spcAft>
                <a:spcPts val="300"/>
              </a:spcAft>
              <a:defRPr sz="1050">
                <a:solidFill>
                  <a:srgbClr val="2D3748"/>
                </a:solidFill>
                <a:latin typeface="Arial"/>
              </a:defRPr>
            </a:pPr>
            <a:r>
              <a:t>   - RNA-Seq normalized gene expression counts.</a:t>
            </a:r>
          </a:p>
          <a:p>
            <a:pPr>
              <a:spcAft>
                <a:spcPts val="300"/>
              </a:spcAft>
              <a:defRPr sz="1050">
                <a:solidFill>
                  <a:srgbClr val="2D3748"/>
                </a:solidFill>
                <a:latin typeface="Arial"/>
              </a:defRPr>
            </a:pPr>
            <a:r>
              <a:t>   - Captures downstream pathway activation and functional states.</a:t>
            </a:r>
          </a:p>
          <a:p>
            <a:pPr>
              <a:spcAft>
                <a:spcPts val="300"/>
              </a:spcAft>
              <a:defRPr sz="1050">
                <a:solidFill>
                  <a:srgbClr val="2D3748"/>
                </a:solidFill>
                <a:latin typeface="Arial"/>
              </a:defRPr>
            </a:pPr>
          </a:p>
          <a:p>
            <a:pPr>
              <a:spcAft>
                <a:spcPts val="300"/>
              </a:spcAft>
              <a:defRPr sz="1050">
                <a:solidFill>
                  <a:srgbClr val="2D3748"/>
                </a:solidFill>
                <a:latin typeface="Arial"/>
              </a:defRPr>
            </a:pPr>
            <a:r>
              <a:t>2. miRNA Regulatory Expression (383 MicroRNAs):</a:t>
            </a:r>
          </a:p>
          <a:p>
            <a:pPr>
              <a:spcAft>
                <a:spcPts val="300"/>
              </a:spcAft>
              <a:defRPr sz="1050">
                <a:solidFill>
                  <a:srgbClr val="2D3748"/>
                </a:solidFill>
                <a:latin typeface="Arial"/>
              </a:defRPr>
            </a:pPr>
            <a:r>
              <a:t>   - Small non-coding RNA-Seq profiling.</a:t>
            </a:r>
          </a:p>
          <a:p>
            <a:pPr>
              <a:spcAft>
                <a:spcPts val="300"/>
              </a:spcAft>
              <a:defRPr sz="1050">
                <a:solidFill>
                  <a:srgbClr val="2D3748"/>
                </a:solidFill>
                <a:latin typeface="Arial"/>
              </a:defRPr>
            </a:pPr>
            <a:r>
              <a:t>   - Captures post-transcriptional gene silencing and tumor suppression.</a:t>
            </a:r>
          </a:p>
          <a:p>
            <a:pPr>
              <a:spcAft>
                <a:spcPts val="300"/>
              </a:spcAft>
              <a:defRPr sz="1050">
                <a:solidFill>
                  <a:srgbClr val="2D3748"/>
                </a:solidFill>
                <a:latin typeface="Arial"/>
              </a:defRPr>
            </a:pPr>
          </a:p>
          <a:p>
            <a:pPr>
              <a:spcAft>
                <a:spcPts val="300"/>
              </a:spcAft>
              <a:defRPr sz="1050">
                <a:solidFill>
                  <a:srgbClr val="2D3748"/>
                </a:solidFill>
                <a:latin typeface="Arial"/>
              </a:defRPr>
            </a:pPr>
            <a:r>
              <a:t>3. Copy Number Variations — CNV (3,105 Genomic Regions):</a:t>
            </a:r>
          </a:p>
          <a:p>
            <a:pPr>
              <a:spcAft>
                <a:spcPts val="300"/>
              </a:spcAft>
              <a:defRPr sz="1050">
                <a:solidFill>
                  <a:srgbClr val="2D3748"/>
                </a:solidFill>
                <a:latin typeface="Arial"/>
              </a:defRPr>
            </a:pPr>
            <a:r>
              <a:t>   - GISTIC2 thresholded segment values (-2 to +2).</a:t>
            </a:r>
          </a:p>
          <a:p>
            <a:pPr>
              <a:spcAft>
                <a:spcPts val="300"/>
              </a:spcAft>
              <a:defRPr sz="1050">
                <a:solidFill>
                  <a:srgbClr val="2D3748"/>
                </a:solidFill>
                <a:latin typeface="Arial"/>
              </a:defRPr>
            </a:pPr>
            <a:r>
              <a:t>   - High genomic plasticity and structural noise across cancer types.</a:t>
            </a:r>
          </a:p>
          <a:p>
            <a:pPr>
              <a:spcAft>
                <a:spcPts val="300"/>
              </a:spcAft>
              <a:defRPr sz="1050">
                <a:solidFill>
                  <a:srgbClr val="2D3748"/>
                </a:solidFill>
                <a:latin typeface="Arial"/>
              </a:defRPr>
            </a:pPr>
          </a:p>
          <a:p>
            <a:pPr>
              <a:spcAft>
                <a:spcPts val="300"/>
              </a:spcAft>
              <a:defRPr sz="1050">
                <a:solidFill>
                  <a:srgbClr val="2D3748"/>
                </a:solidFill>
                <a:latin typeface="Arial"/>
              </a:defRPr>
            </a:pPr>
            <a:r>
              <a:t>4. DNA Methylation (3,139 CpG Probes):</a:t>
            </a:r>
          </a:p>
          <a:p>
            <a:pPr>
              <a:spcAft>
                <a:spcPts val="300"/>
              </a:spcAft>
              <a:defRPr sz="1050">
                <a:solidFill>
                  <a:srgbClr val="2D3748"/>
                </a:solidFill>
                <a:latin typeface="Arial"/>
              </a:defRPr>
            </a:pPr>
            <a:r>
              <a:t>   - Illumina Infinium HumanMethylation450 platform (β-values ∈ [0, 1]).</a:t>
            </a:r>
          </a:p>
          <a:p>
            <a:pPr>
              <a:spcAft>
                <a:spcPts val="300"/>
              </a:spcAft>
              <a:defRPr sz="1050">
                <a:solidFill>
                  <a:srgbClr val="2D3748"/>
                </a:solidFill>
                <a:latin typeface="Arial"/>
              </a:defRPr>
            </a:pPr>
            <a:r>
              <a:t>   - Epigenetic hyper/hypo-methylation biomarker signatures.</a:t>
            </a:r>
          </a:p>
          <a:p>
            <a:pPr>
              <a:spcAft>
                <a:spcPts val="300"/>
              </a:spcAft>
              <a:defRPr sz="1050">
                <a:solidFill>
                  <a:srgbClr val="2D3748"/>
                </a:solidFill>
                <a:latin typeface="Arial"/>
              </a:defRPr>
            </a:pPr>
          </a:p>
          <a:p>
            <a:pPr>
              <a:spcAft>
                <a:spcPts val="300"/>
              </a:spcAft>
              <a:defRPr sz="1050">
                <a:solidFill>
                  <a:srgbClr val="2D3748"/>
                </a:solidFill>
                <a:latin typeface="Arial"/>
              </a:defRPr>
            </a:pPr>
            <a:r>
              <a:t>Why Missingness is Inevitable:</a:t>
            </a:r>
          </a:p>
          <a:p>
            <a:pPr>
              <a:spcAft>
                <a:spcPts val="300"/>
              </a:spcAft>
              <a:defRPr sz="1050">
                <a:solidFill>
                  <a:srgbClr val="2D3748"/>
                </a:solidFill>
                <a:latin typeface="Arial"/>
              </a:defRPr>
            </a:pPr>
            <a:r>
              <a:t>• Cost, biopsy tissue exhaustion (FFPE degradation), and sequencing failures mean patients rarely receive all four diagnostic profiling assays simultaneously.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200" b="1">
                <a:solidFill>
                  <a:srgbClr val="1A365D"/>
                </a:solidFill>
                <a:latin typeface="Arial"/>
              </a:defRPr>
            </a:pPr>
            <a:r>
              <a:t>Data Preprocessing, Anti-Leakage Protocol, and Partitioning</a:t>
            </a:r>
          </a:p>
          <a:p>
            <a:pPr>
              <a:defRPr sz="1100" i="1">
                <a:solidFill>
                  <a:srgbClr val="718096"/>
                </a:solidFill>
                <a:latin typeface="Arial"/>
              </a:defRPr>
            </a:pPr>
            <a:r>
              <a:t>Mathematical Normalization Fitted Strictly on Training Cohort to Guarantee Zero Leakage</a:t>
            </a:r>
          </a:p>
        </p:txBody>
      </p:sp>
      <p:sp>
        <p:nvSpPr>
          <p:cNvPr id="3" name="TextBox 2"/>
          <p:cNvSpPr txBox="1"/>
          <p:nvPr/>
        </p:nvSpPr>
        <p:spPr>
          <a:xfrm>
            <a:off x="731520" y="6400800"/>
            <a:ext cx="10698480" cy="365760"/>
          </a:xfrm>
          <a:prstGeom prst="rect">
            <a:avLst/>
          </a:prstGeom>
          <a:noFill/>
        </p:spPr>
        <p:txBody>
          <a:bodyPr wrap="square" lIns="0" tIns="0" rIns="0" bIns="0">
            <a:spAutoFit/>
          </a:bodyPr>
          <a:lstStyle/>
          <a:p>
            <a:pPr>
              <a:defRPr sz="900">
                <a:solidFill>
                  <a:srgbClr val="718096"/>
                </a:solidFill>
                <a:latin typeface="Arial"/>
              </a:defRPr>
            </a:pPr>
            <a:r>
              <a:t>Major Project Review | A Robust Multimodal AI Framework Under Missing Modalities | Slide 3 of 9</a:t>
            </a:r>
          </a:p>
        </p:txBody>
      </p:sp>
      <p:sp>
        <p:nvSpPr>
          <p:cNvPr id="4" name="Rounded Rectangle 3"/>
          <p:cNvSpPr/>
          <p:nvPr/>
        </p:nvSpPr>
        <p:spPr>
          <a:xfrm>
            <a:off x="731520" y="1280160"/>
            <a:ext cx="5120640" cy="489204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1A365D"/>
                </a:solidFill>
                <a:latin typeface="Arial"/>
              </a:defRPr>
            </a:pPr>
            <a:r>
              <a:t>Stratified 70 / 15 / 15 Partitioning</a:t>
            </a:r>
          </a:p>
          <a:p>
            <a:pPr>
              <a:spcAft>
                <a:spcPts val="300"/>
              </a:spcAft>
              <a:defRPr sz="1050">
                <a:solidFill>
                  <a:srgbClr val="2D3748"/>
                </a:solidFill>
                <a:latin typeface="Arial"/>
              </a:defRPr>
            </a:pPr>
            <a:r>
              <a:t>Split Stratification by Cancer Type:</a:t>
            </a:r>
          </a:p>
          <a:p>
            <a:pPr>
              <a:spcAft>
                <a:spcPts val="300"/>
              </a:spcAft>
              <a:defRPr sz="1050">
                <a:solidFill>
                  <a:srgbClr val="2D3748"/>
                </a:solidFill>
                <a:latin typeface="Arial"/>
              </a:defRPr>
            </a:pPr>
            <a:r>
              <a:t>• Training Split (70.0%): 1,584 patients</a:t>
            </a:r>
          </a:p>
          <a:p>
            <a:pPr>
              <a:spcAft>
                <a:spcPts val="300"/>
              </a:spcAft>
              <a:defRPr sz="1050">
                <a:solidFill>
                  <a:srgbClr val="2D3748"/>
                </a:solidFill>
                <a:latin typeface="Arial"/>
              </a:defRPr>
            </a:pPr>
            <a:r>
              <a:t>  - BRCA: 530 | HNSC: 354 | LGG: 354 | THCA: 346</a:t>
            </a:r>
          </a:p>
          <a:p>
            <a:pPr>
              <a:spcAft>
                <a:spcPts val="300"/>
              </a:spcAft>
              <a:defRPr sz="1050">
                <a:solidFill>
                  <a:srgbClr val="2D3748"/>
                </a:solidFill>
                <a:latin typeface="Arial"/>
              </a:defRPr>
            </a:pPr>
            <a:r>
              <a:t>• Validation Split (15.0%): 339 patients</a:t>
            </a:r>
          </a:p>
          <a:p>
            <a:pPr>
              <a:spcAft>
                <a:spcPts val="300"/>
              </a:spcAft>
              <a:defRPr sz="1050">
                <a:solidFill>
                  <a:srgbClr val="2D3748"/>
                </a:solidFill>
                <a:latin typeface="Arial"/>
              </a:defRPr>
            </a:pPr>
            <a:r>
              <a:t>  - BRCA: 113 | HNSC: 76 | LGG: 76 | THCA: 74</a:t>
            </a:r>
          </a:p>
          <a:p>
            <a:pPr>
              <a:spcAft>
                <a:spcPts val="300"/>
              </a:spcAft>
              <a:defRPr sz="1050">
                <a:solidFill>
                  <a:srgbClr val="2D3748"/>
                </a:solidFill>
                <a:latin typeface="Arial"/>
              </a:defRPr>
            </a:pPr>
            <a:r>
              <a:t>• Test Split (15.0%): 340 patients</a:t>
            </a:r>
          </a:p>
          <a:p>
            <a:pPr>
              <a:spcAft>
                <a:spcPts val="300"/>
              </a:spcAft>
              <a:defRPr sz="1050">
                <a:solidFill>
                  <a:srgbClr val="2D3748"/>
                </a:solidFill>
                <a:latin typeface="Arial"/>
              </a:defRPr>
            </a:pPr>
            <a:r>
              <a:t>  - BRCA: 114 | HNSC: 76 | LGG: 76 | THCA: 74</a:t>
            </a:r>
          </a:p>
          <a:p>
            <a:pPr>
              <a:spcAft>
                <a:spcPts val="300"/>
              </a:spcAft>
              <a:defRPr sz="1050">
                <a:solidFill>
                  <a:srgbClr val="2D3748"/>
                </a:solidFill>
                <a:latin typeface="Arial"/>
              </a:defRPr>
            </a:pPr>
          </a:p>
          <a:p>
            <a:pPr>
              <a:spcAft>
                <a:spcPts val="300"/>
              </a:spcAft>
              <a:defRPr sz="1050">
                <a:solidFill>
                  <a:srgbClr val="2D3748"/>
                </a:solidFill>
                <a:latin typeface="Arial"/>
              </a:defRPr>
            </a:pPr>
            <a:r>
              <a:t>Rigorous Anti-Leakage Proof:</a:t>
            </a:r>
          </a:p>
          <a:p>
            <a:pPr>
              <a:spcAft>
                <a:spcPts val="300"/>
              </a:spcAft>
              <a:defRPr sz="1050">
                <a:solidFill>
                  <a:srgbClr val="2D3748"/>
                </a:solidFill>
                <a:latin typeface="Arial"/>
              </a:defRPr>
            </a:pPr>
            <a:r>
              <a:t>• Pairwise disjointness verified in test_pipeline.py:</a:t>
            </a:r>
          </a:p>
          <a:p>
            <a:pPr>
              <a:spcAft>
                <a:spcPts val="300"/>
              </a:spcAft>
              <a:defRPr sz="1050">
                <a:solidFill>
                  <a:srgbClr val="2D3748"/>
                </a:solidFill>
                <a:latin typeface="Arial"/>
              </a:defRPr>
            </a:pPr>
            <a:r>
              <a:t>  Train ∩ Val = ∅,  Train ∩ Test = ∅,  Val ∩ Test = ∅</a:t>
            </a:r>
          </a:p>
          <a:p>
            <a:pPr>
              <a:spcAft>
                <a:spcPts val="300"/>
              </a:spcAft>
              <a:defRPr sz="1050">
                <a:solidFill>
                  <a:srgbClr val="2D3748"/>
                </a:solidFill>
                <a:latin typeface="Arial"/>
              </a:defRPr>
            </a:pPr>
            <a:r>
              <a:t>• Sample ID and patient ID disjointness confirmed.</a:t>
            </a:r>
          </a:p>
          <a:p>
            <a:pPr>
              <a:spcAft>
                <a:spcPts val="300"/>
              </a:spcAft>
              <a:defRPr sz="1050">
                <a:solidFill>
                  <a:srgbClr val="2D3748"/>
                </a:solidFill>
                <a:latin typeface="Arial"/>
              </a:defRPr>
            </a:pPr>
            <a:r>
              <a:t>• Held-out test set (N=340) remained completely untouched during architecture tuning and checkpoint selection.</a:t>
            </a:r>
          </a:p>
        </p:txBody>
      </p:sp>
      <p:sp>
        <p:nvSpPr>
          <p:cNvPr id="5" name="Rounded Rectangle 4"/>
          <p:cNvSpPr/>
          <p:nvPr/>
        </p:nvSpPr>
        <p:spPr>
          <a:xfrm>
            <a:off x="6126480" y="1280160"/>
            <a:ext cx="5333695" cy="489204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1A365D"/>
                </a:solidFill>
                <a:latin typeface="Arial"/>
              </a:defRPr>
            </a:pPr>
            <a:r>
              <a:t>Executed Preprocessing &amp; Feature Filtering</a:t>
            </a:r>
          </a:p>
          <a:p>
            <a:pPr>
              <a:spcAft>
                <a:spcPts val="300"/>
              </a:spcAft>
              <a:defRPr sz="1050">
                <a:solidFill>
                  <a:srgbClr val="2D3748"/>
                </a:solidFill>
                <a:latin typeface="Arial"/>
              </a:defRPr>
            </a:pPr>
            <a:r>
              <a:t>Strict Train-Only Fitting Rule:</a:t>
            </a:r>
          </a:p>
          <a:p>
            <a:pPr>
              <a:spcAft>
                <a:spcPts val="300"/>
              </a:spcAft>
              <a:defRPr sz="1050">
                <a:solidFill>
                  <a:srgbClr val="2D3748"/>
                </a:solidFill>
                <a:latin typeface="Arial"/>
              </a:defRPr>
            </a:pPr>
            <a:r>
              <a:t>• All scaling parameters (means, standard deviations, min/max bounds) were fitted exclusively on the 1,584 training samples.</a:t>
            </a:r>
          </a:p>
          <a:p>
            <a:pPr>
              <a:spcAft>
                <a:spcPts val="300"/>
              </a:spcAft>
              <a:defRPr sz="1050">
                <a:solidFill>
                  <a:srgbClr val="2D3748"/>
                </a:solidFill>
                <a:latin typeface="Arial"/>
              </a:defRPr>
            </a:pPr>
            <a:r>
              <a:t>• Preprocessors were persisted using joblib and statically transformed validation and test partitions without re-fitting.</a:t>
            </a:r>
          </a:p>
          <a:p>
            <a:pPr>
              <a:spcAft>
                <a:spcPts val="300"/>
              </a:spcAft>
              <a:defRPr sz="1050">
                <a:solidFill>
                  <a:srgbClr val="2D3748"/>
                </a:solidFill>
                <a:latin typeface="Arial"/>
              </a:defRPr>
            </a:pPr>
          </a:p>
          <a:p>
            <a:pPr>
              <a:spcAft>
                <a:spcPts val="300"/>
              </a:spcAft>
              <a:defRPr sz="1050">
                <a:solidFill>
                  <a:srgbClr val="2D3748"/>
                </a:solidFill>
                <a:latin typeface="Arial"/>
              </a:defRPr>
            </a:pPr>
            <a:r>
              <a:t>Exact Modality Operations:</a:t>
            </a:r>
          </a:p>
          <a:p>
            <a:pPr>
              <a:spcAft>
                <a:spcPts val="300"/>
              </a:spcAft>
              <a:defRPr sz="1050">
                <a:solidFill>
                  <a:srgbClr val="2D3748"/>
                </a:solidFill>
                <a:latin typeface="Arial"/>
              </a:defRPr>
            </a:pPr>
            <a:r>
              <a:t>1. mRNA (3,217 genes): StandardScaler (z-score normalization)</a:t>
            </a:r>
          </a:p>
          <a:p>
            <a:pPr>
              <a:spcAft>
                <a:spcPts val="300"/>
              </a:spcAft>
              <a:defRPr sz="1050">
                <a:solidFill>
                  <a:srgbClr val="2D3748"/>
                </a:solidFill>
                <a:latin typeface="Arial"/>
              </a:defRPr>
            </a:pPr>
            <a:r>
              <a:t>   - Center mean to 0, unit variance; VarianceThreshold=0.0.</a:t>
            </a:r>
          </a:p>
          <a:p>
            <a:pPr>
              <a:spcAft>
                <a:spcPts val="300"/>
              </a:spcAft>
              <a:defRPr sz="1050">
                <a:solidFill>
                  <a:srgbClr val="2D3748"/>
                </a:solidFill>
                <a:latin typeface="Arial"/>
              </a:defRPr>
            </a:pPr>
            <a:r>
              <a:t>2. miRNA (383 microRNAs): StandardScaler</a:t>
            </a:r>
          </a:p>
          <a:p>
            <a:pPr>
              <a:spcAft>
                <a:spcPts val="300"/>
              </a:spcAft>
              <a:defRPr sz="1050">
                <a:solidFill>
                  <a:srgbClr val="2D3748"/>
                </a:solidFill>
                <a:latin typeface="Arial"/>
              </a:defRPr>
            </a:pPr>
            <a:r>
              <a:t>   - Center mean to 0, unit variance; VarianceThreshold=0.0.</a:t>
            </a:r>
          </a:p>
          <a:p>
            <a:pPr>
              <a:spcAft>
                <a:spcPts val="300"/>
              </a:spcAft>
              <a:defRPr sz="1050">
                <a:solidFill>
                  <a:srgbClr val="2D3748"/>
                </a:solidFill>
                <a:latin typeface="Arial"/>
              </a:defRPr>
            </a:pPr>
            <a:r>
              <a:t>3. CNV (3,105 regions): StandardScaler</a:t>
            </a:r>
          </a:p>
          <a:p>
            <a:pPr>
              <a:spcAft>
                <a:spcPts val="300"/>
              </a:spcAft>
              <a:defRPr sz="1050">
                <a:solidFill>
                  <a:srgbClr val="2D3748"/>
                </a:solidFill>
                <a:latin typeface="Arial"/>
              </a:defRPr>
            </a:pPr>
            <a:r>
              <a:t>   - Center mean to 0, unit variance; VarianceThreshold=0.0.</a:t>
            </a:r>
          </a:p>
          <a:p>
            <a:pPr>
              <a:spcAft>
                <a:spcPts val="300"/>
              </a:spcAft>
              <a:defRPr sz="1050">
                <a:solidFill>
                  <a:srgbClr val="2D3748"/>
                </a:solidFill>
                <a:latin typeface="Arial"/>
              </a:defRPr>
            </a:pPr>
            <a:r>
              <a:t>4. DNA Methylation (3,139 probes): MinMaxScaler</a:t>
            </a:r>
          </a:p>
          <a:p>
            <a:pPr>
              <a:spcAft>
                <a:spcPts val="300"/>
              </a:spcAft>
              <a:defRPr sz="1050">
                <a:solidFill>
                  <a:srgbClr val="2D3748"/>
                </a:solidFill>
                <a:latin typeface="Arial"/>
              </a:defRPr>
            </a:pPr>
            <a:r>
              <a:t>   - Scaled to bounded [0, 1] range to preserve biological beta-value bounds.</a:t>
            </a:r>
          </a:p>
          <a:p>
            <a:pPr>
              <a:spcAft>
                <a:spcPts val="300"/>
              </a:spcAft>
              <a:defRPr sz="1050">
                <a:solidFill>
                  <a:srgbClr val="2D3748"/>
                </a:solidFill>
                <a:latin typeface="Arial"/>
              </a:defRPr>
            </a:pPr>
          </a:p>
          <a:p>
            <a:pPr>
              <a:spcAft>
                <a:spcPts val="300"/>
              </a:spcAft>
              <a:defRPr sz="1050">
                <a:solidFill>
                  <a:srgbClr val="2D3748"/>
                </a:solidFill>
                <a:latin typeface="Arial"/>
              </a:defRPr>
            </a:pPr>
            <a:r>
              <a:t>Feature Selection Result:</a:t>
            </a:r>
          </a:p>
          <a:p>
            <a:pPr>
              <a:spcAft>
                <a:spcPts val="300"/>
              </a:spcAft>
              <a:defRPr sz="1050">
                <a:solidFill>
                  <a:srgbClr val="2D3748"/>
                </a:solidFill>
                <a:latin typeface="Arial"/>
              </a:defRPr>
            </a:pPr>
            <a:r>
              <a:t>• All 9,844 features exhibited non-zero variance across training samples; 100% of biological features were retained.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200" b="1">
                <a:solidFill>
                  <a:srgbClr val="1A365D"/>
                </a:solidFill>
                <a:latin typeface="Arial"/>
              </a:defRPr>
            </a:pPr>
            <a:r>
              <a:t>Proposed Neural Network Architecture</a:t>
            </a:r>
          </a:p>
          <a:p>
            <a:pPr>
              <a:defRPr sz="1100" i="1">
                <a:solidFill>
                  <a:srgbClr val="718096"/>
                </a:solidFill>
                <a:latin typeface="Arial"/>
              </a:defRPr>
            </a:pPr>
            <a:r>
              <a:t>Multi-Head Self-Attention over Modality Tokens with Learned Missingness Representations</a:t>
            </a:r>
          </a:p>
        </p:txBody>
      </p:sp>
      <p:sp>
        <p:nvSpPr>
          <p:cNvPr id="3" name="TextBox 2"/>
          <p:cNvSpPr txBox="1"/>
          <p:nvPr/>
        </p:nvSpPr>
        <p:spPr>
          <a:xfrm>
            <a:off x="731520" y="6400800"/>
            <a:ext cx="10698480" cy="365760"/>
          </a:xfrm>
          <a:prstGeom prst="rect">
            <a:avLst/>
          </a:prstGeom>
          <a:noFill/>
        </p:spPr>
        <p:txBody>
          <a:bodyPr wrap="square" lIns="0" tIns="0" rIns="0" bIns="0">
            <a:spAutoFit/>
          </a:bodyPr>
          <a:lstStyle/>
          <a:p>
            <a:pPr>
              <a:defRPr sz="900">
                <a:solidFill>
                  <a:srgbClr val="718096"/>
                </a:solidFill>
                <a:latin typeface="Arial"/>
              </a:defRPr>
            </a:pPr>
            <a:r>
              <a:t>Major Project Review | A Robust Multimodal AI Framework Under Missing Modalities | Slide 4 of 9</a:t>
            </a:r>
          </a:p>
        </p:txBody>
      </p:sp>
      <p:pic>
        <p:nvPicPr>
          <p:cNvPr id="4" name="Picture 3" descr="D1_model_architecture.png"/>
          <p:cNvPicPr>
            <a:picLocks noChangeAspect="1"/>
          </p:cNvPicPr>
          <p:nvPr/>
        </p:nvPicPr>
        <p:blipFill>
          <a:blip r:embed="rId2"/>
          <a:stretch>
            <a:fillRect/>
          </a:stretch>
        </p:blipFill>
        <p:spPr>
          <a:xfrm>
            <a:off x="731520" y="1280160"/>
            <a:ext cx="6583680" cy="3840480"/>
          </a:xfrm>
          <a:prstGeom prst="rect">
            <a:avLst/>
          </a:prstGeom>
        </p:spPr>
      </p:pic>
      <p:sp>
        <p:nvSpPr>
          <p:cNvPr id="5" name="Rounded Rectangle 4"/>
          <p:cNvSpPr/>
          <p:nvPr/>
        </p:nvSpPr>
        <p:spPr>
          <a:xfrm>
            <a:off x="7498079" y="1280160"/>
            <a:ext cx="3962095" cy="384048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1A365D"/>
                </a:solidFill>
                <a:latin typeface="Arial"/>
              </a:defRPr>
            </a:pPr>
            <a:r>
              <a:t>Architectural Specifications</a:t>
            </a:r>
          </a:p>
          <a:p>
            <a:pPr>
              <a:spcAft>
                <a:spcPts val="300"/>
              </a:spcAft>
              <a:defRPr sz="1050">
                <a:solidFill>
                  <a:srgbClr val="2D3748"/>
                </a:solidFill>
                <a:latin typeface="Arial"/>
              </a:defRPr>
            </a:pPr>
            <a:r>
              <a:t>1. Modality Encoders (4 MLPs):</a:t>
            </a:r>
          </a:p>
          <a:p>
            <a:pPr>
              <a:spcAft>
                <a:spcPts val="300"/>
              </a:spcAft>
              <a:defRPr sz="1050">
                <a:solidFill>
                  <a:srgbClr val="2D3748"/>
                </a:solidFill>
                <a:latin typeface="Arial"/>
              </a:defRPr>
            </a:pPr>
            <a:r>
              <a:t>   - Linear(K -&gt; 256) -&gt; BN -&gt; ReLU -&gt; Dropout</a:t>
            </a:r>
          </a:p>
          <a:p>
            <a:pPr>
              <a:spcAft>
                <a:spcPts val="300"/>
              </a:spcAft>
              <a:defRPr sz="1050">
                <a:solidFill>
                  <a:srgbClr val="2D3748"/>
                </a:solidFill>
                <a:latin typeface="Arial"/>
              </a:defRPr>
            </a:pPr>
            <a:r>
              <a:t>   - Linear(256 -&gt; 128) -&gt; BN -&gt; ReLU -&gt; Dropout</a:t>
            </a:r>
          </a:p>
          <a:p>
            <a:pPr>
              <a:spcAft>
                <a:spcPts val="300"/>
              </a:spcAft>
              <a:defRPr sz="1050">
                <a:solidFill>
                  <a:srgbClr val="2D3748"/>
                </a:solidFill>
                <a:latin typeface="Arial"/>
              </a:defRPr>
            </a:pPr>
            <a:r>
              <a:t>   - Projects disparate assays into D = 128.</a:t>
            </a:r>
          </a:p>
          <a:p>
            <a:pPr>
              <a:spcAft>
                <a:spcPts val="300"/>
              </a:spcAft>
              <a:defRPr sz="1050">
                <a:solidFill>
                  <a:srgbClr val="2D3748"/>
                </a:solidFill>
                <a:latin typeface="Arial"/>
              </a:defRPr>
            </a:pPr>
          </a:p>
          <a:p>
            <a:pPr>
              <a:spcAft>
                <a:spcPts val="300"/>
              </a:spcAft>
              <a:defRPr sz="1050">
                <a:solidFill>
                  <a:srgbClr val="2D3748"/>
                </a:solidFill>
                <a:latin typeface="Arial"/>
              </a:defRPr>
            </a:pPr>
            <a:r>
              <a:t>2. Missing Token Substitution:</a:t>
            </a:r>
          </a:p>
          <a:p>
            <a:pPr>
              <a:spcAft>
                <a:spcPts val="300"/>
              </a:spcAft>
              <a:defRPr sz="1050">
                <a:solidFill>
                  <a:srgbClr val="2D3748"/>
                </a:solidFill>
                <a:latin typeface="Arial"/>
              </a:defRPr>
            </a:pPr>
            <a:r>
              <a:t>   - z_m = M_m · z_m + (1 - M_m) · θ_m + E_m</a:t>
            </a:r>
          </a:p>
          <a:p>
            <a:pPr>
              <a:spcAft>
                <a:spcPts val="300"/>
              </a:spcAft>
              <a:defRPr sz="1050">
                <a:solidFill>
                  <a:srgbClr val="2D3748"/>
                </a:solidFill>
                <a:latin typeface="Arial"/>
              </a:defRPr>
            </a:pPr>
            <a:r>
              <a:t>   - θ_m: Learned default missing token ∈ R^128.</a:t>
            </a:r>
          </a:p>
          <a:p>
            <a:pPr>
              <a:spcAft>
                <a:spcPts val="300"/>
              </a:spcAft>
              <a:defRPr sz="1050">
                <a:solidFill>
                  <a:srgbClr val="2D3748"/>
                </a:solidFill>
                <a:latin typeface="Arial"/>
              </a:defRPr>
            </a:pPr>
            <a:r>
              <a:t>   - E_m: Learned modality-type embedding ∈ R^128.</a:t>
            </a:r>
          </a:p>
          <a:p>
            <a:pPr>
              <a:spcAft>
                <a:spcPts val="300"/>
              </a:spcAft>
              <a:defRPr sz="1050">
                <a:solidFill>
                  <a:srgbClr val="2D3748"/>
                </a:solidFill>
                <a:latin typeface="Arial"/>
              </a:defRPr>
            </a:pPr>
          </a:p>
          <a:p>
            <a:pPr>
              <a:spcAft>
                <a:spcPts val="300"/>
              </a:spcAft>
              <a:defRPr sz="1050">
                <a:solidFill>
                  <a:srgbClr val="2D3748"/>
                </a:solidFill>
                <a:latin typeface="Arial"/>
              </a:defRPr>
            </a:pPr>
            <a:r>
              <a:t>3. Inter-Modality Self-Attention:</a:t>
            </a:r>
          </a:p>
          <a:p>
            <a:pPr>
              <a:spcAft>
                <a:spcPts val="300"/>
              </a:spcAft>
              <a:defRPr sz="1050">
                <a:solidFill>
                  <a:srgbClr val="2D3748"/>
                </a:solidFill>
                <a:latin typeface="Arial"/>
              </a:defRPr>
            </a:pPr>
            <a:r>
              <a:t>   - MultiheadAttention(query=Z, key=Z, value=Z)</a:t>
            </a:r>
          </a:p>
          <a:p>
            <a:pPr>
              <a:spcAft>
                <a:spcPts val="300"/>
              </a:spcAft>
              <a:defRPr sz="1050">
                <a:solidFill>
                  <a:srgbClr val="2D3748"/>
                </a:solidFill>
                <a:latin typeface="Arial"/>
              </a:defRPr>
            </a:pPr>
            <a:r>
              <a:t>   - H = 4 attention heads, D = 128 embedding dim.</a:t>
            </a:r>
          </a:p>
          <a:p>
            <a:pPr>
              <a:spcAft>
                <a:spcPts val="300"/>
              </a:spcAft>
              <a:defRPr sz="1050">
                <a:solidFill>
                  <a:srgbClr val="2D3748"/>
                </a:solidFill>
                <a:latin typeface="Arial"/>
              </a:defRPr>
            </a:pPr>
            <a:r>
              <a:t>   - Key padding mask M_pad suppresses absent assays.</a:t>
            </a:r>
          </a:p>
          <a:p>
            <a:pPr>
              <a:spcAft>
                <a:spcPts val="300"/>
              </a:spcAft>
              <a:defRPr sz="1050">
                <a:solidFill>
                  <a:srgbClr val="2D3748"/>
                </a:solidFill>
                <a:latin typeface="Arial"/>
              </a:defRPr>
            </a:pPr>
          </a:p>
          <a:p>
            <a:pPr>
              <a:spcAft>
                <a:spcPts val="300"/>
              </a:spcAft>
              <a:defRPr sz="1050">
                <a:solidFill>
                  <a:srgbClr val="2D3748"/>
                </a:solidFill>
                <a:latin typeface="Arial"/>
              </a:defRPr>
            </a:pPr>
            <a:r>
              <a:t>4. Mask-Aware Pooling &amp; Classifier:</a:t>
            </a:r>
          </a:p>
          <a:p>
            <a:pPr>
              <a:spcAft>
                <a:spcPts val="300"/>
              </a:spcAft>
              <a:defRPr sz="1050">
                <a:solidFill>
                  <a:srgbClr val="2D3748"/>
                </a:solidFill>
                <a:latin typeface="Arial"/>
              </a:defRPr>
            </a:pPr>
            <a:r>
              <a:t>   - h_fused = (∑ M_m · z'_m) / max(1, ∑ M_m)</a:t>
            </a:r>
          </a:p>
          <a:p>
            <a:pPr>
              <a:spcAft>
                <a:spcPts val="300"/>
              </a:spcAft>
              <a:defRPr sz="1050">
                <a:solidFill>
                  <a:srgbClr val="2D3748"/>
                </a:solidFill>
                <a:latin typeface="Arial"/>
              </a:defRPr>
            </a:pPr>
            <a:r>
              <a:t>   - Linear(128 -&gt; 64) -&gt; ReLU -&gt; Dropout -&gt; Linear(64 -&gt; 4).</a:t>
            </a:r>
          </a:p>
        </p:txBody>
      </p:sp>
      <p:sp>
        <p:nvSpPr>
          <p:cNvPr id="6" name="Rounded Rectangle 5"/>
          <p:cNvSpPr/>
          <p:nvPr/>
        </p:nvSpPr>
        <p:spPr>
          <a:xfrm>
            <a:off x="731520" y="5257800"/>
            <a:ext cx="10728655" cy="914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1A365D"/>
                </a:solidFill>
                <a:latin typeface="Arial"/>
              </a:defRPr>
            </a:pPr>
            <a:r>
              <a:t>Technical Accuracy Note: Self-Attention vs. Cross-Attention</a:t>
            </a:r>
          </a:p>
          <a:p>
            <a:pPr>
              <a:spcAft>
                <a:spcPts val="300"/>
              </a:spcAft>
              <a:defRPr sz="1050">
                <a:solidFill>
                  <a:srgbClr val="2D3748"/>
                </a:solidFill>
                <a:latin typeface="Arial"/>
              </a:defRPr>
            </a:pPr>
            <a:r>
              <a:t>• While colloquially termed cross-attention fusion, the underlying mathematical implementation is Multi-Head Self-Attention over a 4-token sequence (one token per modality).</a:t>
            </a:r>
          </a:p>
          <a:p>
            <a:pPr>
              <a:spcAft>
                <a:spcPts val="300"/>
              </a:spcAft>
              <a:defRPr sz="1050">
                <a:solidFill>
                  <a:srgbClr val="2D3748"/>
                </a:solidFill>
                <a:latin typeface="Arial"/>
              </a:defRPr>
            </a:pPr>
            <a:r>
              <a:t>• All present modalities attend to one another symmetrically, enabling dynamic information routing while key padding masks prevent attention leakage to missing modalities.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200" b="1">
                <a:solidFill>
                  <a:srgbClr val="1A365D"/>
                </a:solidFill>
                <a:latin typeface="Arial"/>
              </a:defRPr>
            </a:pPr>
            <a:r>
              <a:t>Missing-Modality Simulation and Robust Forward-Pass Handling</a:t>
            </a:r>
          </a:p>
          <a:p>
            <a:pPr>
              <a:defRPr sz="1100" i="1">
                <a:solidFill>
                  <a:srgbClr val="718096"/>
                </a:solidFill>
                <a:latin typeface="Arial"/>
              </a:defRPr>
            </a:pPr>
            <a:r>
              <a:t>15 Predefined Modality-Availability Conditions (C0–C14) and Native Attention Masking</a:t>
            </a:r>
          </a:p>
        </p:txBody>
      </p:sp>
      <p:sp>
        <p:nvSpPr>
          <p:cNvPr id="3" name="TextBox 2"/>
          <p:cNvSpPr txBox="1"/>
          <p:nvPr/>
        </p:nvSpPr>
        <p:spPr>
          <a:xfrm>
            <a:off x="731520" y="6400800"/>
            <a:ext cx="10698480" cy="365760"/>
          </a:xfrm>
          <a:prstGeom prst="rect">
            <a:avLst/>
          </a:prstGeom>
          <a:noFill/>
        </p:spPr>
        <p:txBody>
          <a:bodyPr wrap="square" lIns="0" tIns="0" rIns="0" bIns="0">
            <a:spAutoFit/>
          </a:bodyPr>
          <a:lstStyle/>
          <a:p>
            <a:pPr>
              <a:defRPr sz="900">
                <a:solidFill>
                  <a:srgbClr val="718096"/>
                </a:solidFill>
                <a:latin typeface="Arial"/>
              </a:defRPr>
            </a:pPr>
            <a:r>
              <a:t>Major Project Review | A Robust Multimodal AI Framework Under Missing Modalities | Slide 5 of 9</a:t>
            </a:r>
          </a:p>
        </p:txBody>
      </p:sp>
      <p:pic>
        <p:nvPicPr>
          <p:cNvPr id="4" name="Picture 3" descr="missing_modality_handling.png"/>
          <p:cNvPicPr>
            <a:picLocks noChangeAspect="1"/>
          </p:cNvPicPr>
          <p:nvPr/>
        </p:nvPicPr>
        <p:blipFill>
          <a:blip r:embed="rId2"/>
          <a:stretch>
            <a:fillRect/>
          </a:stretch>
        </p:blipFill>
        <p:spPr>
          <a:xfrm>
            <a:off x="731520" y="1280160"/>
            <a:ext cx="6217920" cy="3840480"/>
          </a:xfrm>
          <a:prstGeom prst="rect">
            <a:avLst/>
          </a:prstGeom>
        </p:spPr>
      </p:pic>
      <p:sp>
        <p:nvSpPr>
          <p:cNvPr id="5" name="Rounded Rectangle 4"/>
          <p:cNvSpPr/>
          <p:nvPr/>
        </p:nvSpPr>
        <p:spPr>
          <a:xfrm>
            <a:off x="7132320" y="1280160"/>
            <a:ext cx="4327855" cy="489204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1A365D"/>
                </a:solidFill>
                <a:latin typeface="Arial"/>
              </a:defRPr>
            </a:pPr>
            <a:r>
              <a:t>15 Evaluation Conditions (C0 to C14)</a:t>
            </a:r>
          </a:p>
          <a:p>
            <a:pPr>
              <a:spcAft>
                <a:spcPts val="300"/>
              </a:spcAft>
              <a:defRPr sz="1050">
                <a:solidFill>
                  <a:srgbClr val="2D3748"/>
                </a:solidFill>
                <a:latin typeface="Arial"/>
              </a:defRPr>
            </a:pPr>
            <a:r>
              <a:t>Predefined Availability Conditions:</a:t>
            </a:r>
          </a:p>
          <a:p>
            <a:pPr>
              <a:spcAft>
                <a:spcPts val="300"/>
              </a:spcAft>
              <a:defRPr sz="1050">
                <a:solidFill>
                  <a:srgbClr val="2D3748"/>
                </a:solidFill>
                <a:latin typeface="Arial"/>
              </a:defRPr>
            </a:pPr>
            <a:r>
              <a:t>• Complete (Reference):</a:t>
            </a:r>
          </a:p>
          <a:p>
            <a:pPr>
              <a:spcAft>
                <a:spcPts val="300"/>
              </a:spcAft>
              <a:defRPr sz="1050">
                <a:solidFill>
                  <a:srgbClr val="2D3748"/>
                </a:solidFill>
                <a:latin typeface="Arial"/>
              </a:defRPr>
            </a:pPr>
            <a:r>
              <a:t>  - C0: All 4 Modalities Present [1, 1, 1, 1]</a:t>
            </a:r>
          </a:p>
          <a:p>
            <a:pPr>
              <a:spcAft>
                <a:spcPts val="300"/>
              </a:spcAft>
              <a:defRPr sz="1050">
                <a:solidFill>
                  <a:srgbClr val="2D3748"/>
                </a:solidFill>
                <a:latin typeface="Arial"/>
              </a:defRPr>
            </a:pPr>
          </a:p>
          <a:p>
            <a:pPr>
              <a:spcAft>
                <a:spcPts val="300"/>
              </a:spcAft>
              <a:defRPr sz="1050">
                <a:solidFill>
                  <a:srgbClr val="2D3748"/>
                </a:solidFill>
                <a:latin typeface="Arial"/>
              </a:defRPr>
            </a:pPr>
            <a:r>
              <a:t>• Single Modality Missing (3 Present):</a:t>
            </a:r>
          </a:p>
          <a:p>
            <a:pPr>
              <a:spcAft>
                <a:spcPts val="300"/>
              </a:spcAft>
              <a:defRPr sz="1050">
                <a:solidFill>
                  <a:srgbClr val="2D3748"/>
                </a:solidFill>
                <a:latin typeface="Arial"/>
              </a:defRPr>
            </a:pPr>
            <a:r>
              <a:t>  - C1: mRNA missing [0, 1, 1, 1]</a:t>
            </a:r>
          </a:p>
          <a:p>
            <a:pPr>
              <a:spcAft>
                <a:spcPts val="300"/>
              </a:spcAft>
              <a:defRPr sz="1050">
                <a:solidFill>
                  <a:srgbClr val="2D3748"/>
                </a:solidFill>
                <a:latin typeface="Arial"/>
              </a:defRPr>
            </a:pPr>
            <a:r>
              <a:t>  - C2: miRNA missing [1, 0, 1, 1]</a:t>
            </a:r>
          </a:p>
          <a:p>
            <a:pPr>
              <a:spcAft>
                <a:spcPts val="300"/>
              </a:spcAft>
              <a:defRPr sz="1050">
                <a:solidFill>
                  <a:srgbClr val="2D3748"/>
                </a:solidFill>
                <a:latin typeface="Arial"/>
              </a:defRPr>
            </a:pPr>
            <a:r>
              <a:t>  - C3: CNV missing [1, 1, 0, 1]</a:t>
            </a:r>
          </a:p>
          <a:p>
            <a:pPr>
              <a:spcAft>
                <a:spcPts val="300"/>
              </a:spcAft>
              <a:defRPr sz="1050">
                <a:solidFill>
                  <a:srgbClr val="2D3748"/>
                </a:solidFill>
                <a:latin typeface="Arial"/>
              </a:defRPr>
            </a:pPr>
            <a:r>
              <a:t>  - C4: Methy missing [1, 1, 1, 0]</a:t>
            </a:r>
          </a:p>
          <a:p>
            <a:pPr>
              <a:spcAft>
                <a:spcPts val="300"/>
              </a:spcAft>
              <a:defRPr sz="1050">
                <a:solidFill>
                  <a:srgbClr val="2D3748"/>
                </a:solidFill>
                <a:latin typeface="Arial"/>
              </a:defRPr>
            </a:pPr>
          </a:p>
          <a:p>
            <a:pPr>
              <a:spcAft>
                <a:spcPts val="300"/>
              </a:spcAft>
              <a:defRPr sz="1050">
                <a:solidFill>
                  <a:srgbClr val="2D3748"/>
                </a:solidFill>
                <a:latin typeface="Arial"/>
              </a:defRPr>
            </a:pPr>
            <a:r>
              <a:t>• Pairwise Missing (2 Present):</a:t>
            </a:r>
          </a:p>
          <a:p>
            <a:pPr>
              <a:spcAft>
                <a:spcPts val="300"/>
              </a:spcAft>
              <a:defRPr sz="1050">
                <a:solidFill>
                  <a:srgbClr val="2D3748"/>
                </a:solidFill>
                <a:latin typeface="Arial"/>
              </a:defRPr>
            </a:pPr>
            <a:r>
              <a:t>  - C5: -mRNA-miRNA | C6: -mRNA-CNV</a:t>
            </a:r>
          </a:p>
          <a:p>
            <a:pPr>
              <a:spcAft>
                <a:spcPts val="300"/>
              </a:spcAft>
              <a:defRPr sz="1050">
                <a:solidFill>
                  <a:srgbClr val="2D3748"/>
                </a:solidFill>
                <a:latin typeface="Arial"/>
              </a:defRPr>
            </a:pPr>
            <a:r>
              <a:t>  - C7: -mRNA-Methy | C8: -miRNA-CNV</a:t>
            </a:r>
          </a:p>
          <a:p>
            <a:pPr>
              <a:spcAft>
                <a:spcPts val="300"/>
              </a:spcAft>
              <a:defRPr sz="1050">
                <a:solidFill>
                  <a:srgbClr val="2D3748"/>
                </a:solidFill>
                <a:latin typeface="Arial"/>
              </a:defRPr>
            </a:pPr>
            <a:r>
              <a:t>  - C9: -miRNA-Methy | C10: -CNV-Methy</a:t>
            </a:r>
          </a:p>
          <a:p>
            <a:pPr>
              <a:spcAft>
                <a:spcPts val="300"/>
              </a:spcAft>
              <a:defRPr sz="1050">
                <a:solidFill>
                  <a:srgbClr val="2D3748"/>
                </a:solidFill>
                <a:latin typeface="Arial"/>
              </a:defRPr>
            </a:pPr>
          </a:p>
          <a:p>
            <a:pPr>
              <a:spcAft>
                <a:spcPts val="300"/>
              </a:spcAft>
              <a:defRPr sz="1050">
                <a:solidFill>
                  <a:srgbClr val="2D3748"/>
                </a:solidFill>
                <a:latin typeface="Arial"/>
              </a:defRPr>
            </a:pPr>
            <a:r>
              <a:t>• Extreme Isolation (Only 1 Modality Present):</a:t>
            </a:r>
          </a:p>
          <a:p>
            <a:pPr>
              <a:spcAft>
                <a:spcPts val="300"/>
              </a:spcAft>
              <a:defRPr sz="1050">
                <a:solidFill>
                  <a:srgbClr val="2D3748"/>
                </a:solidFill>
                <a:latin typeface="Arial"/>
              </a:defRPr>
            </a:pPr>
            <a:r>
              <a:t>  - C11: Only Methy present [0, 0, 0, 1]</a:t>
            </a:r>
          </a:p>
          <a:p>
            <a:pPr>
              <a:spcAft>
                <a:spcPts val="300"/>
              </a:spcAft>
              <a:defRPr sz="1050">
                <a:solidFill>
                  <a:srgbClr val="2D3748"/>
                </a:solidFill>
                <a:latin typeface="Arial"/>
              </a:defRPr>
            </a:pPr>
            <a:r>
              <a:t>  - C12: Only CNV present [0, 0, 1, 0] (Critical Stress)</a:t>
            </a:r>
          </a:p>
          <a:p>
            <a:pPr>
              <a:spcAft>
                <a:spcPts val="300"/>
              </a:spcAft>
              <a:defRPr sz="1050">
                <a:solidFill>
                  <a:srgbClr val="2D3748"/>
                </a:solidFill>
                <a:latin typeface="Arial"/>
              </a:defRPr>
            </a:pPr>
            <a:r>
              <a:t>  - C13: Only miRNA present [0, 1, 0, 0]</a:t>
            </a:r>
          </a:p>
          <a:p>
            <a:pPr>
              <a:spcAft>
                <a:spcPts val="300"/>
              </a:spcAft>
              <a:defRPr sz="1050">
                <a:solidFill>
                  <a:srgbClr val="2D3748"/>
                </a:solidFill>
                <a:latin typeface="Arial"/>
              </a:defRPr>
            </a:pPr>
            <a:r>
              <a:t>  - C14: Only mRNA present [1, 0, 0, 0]</a:t>
            </a:r>
          </a:p>
          <a:p>
            <a:pPr>
              <a:spcAft>
                <a:spcPts val="300"/>
              </a:spcAft>
              <a:defRPr sz="1050">
                <a:solidFill>
                  <a:srgbClr val="2D3748"/>
                </a:solidFill>
                <a:latin typeface="Arial"/>
              </a:defRPr>
            </a:pPr>
          </a:p>
          <a:p>
            <a:pPr>
              <a:spcAft>
                <a:spcPts val="300"/>
              </a:spcAft>
              <a:defRPr sz="1050">
                <a:solidFill>
                  <a:srgbClr val="2D3748"/>
                </a:solidFill>
                <a:latin typeface="Arial"/>
              </a:defRPr>
            </a:pPr>
            <a:r>
              <a:t>Numerical Verification:</a:t>
            </a:r>
          </a:p>
          <a:p>
            <a:pPr>
              <a:spcAft>
                <a:spcPts val="300"/>
              </a:spcAft>
              <a:defRPr sz="1050">
                <a:solidFill>
                  <a:srgbClr val="2D3748"/>
                </a:solidFill>
                <a:latin typeface="Arial"/>
              </a:defRPr>
            </a:pPr>
            <a:r>
              <a:t>• Unit tests prove altering masked numerical inputs causes 0.0 change in model output logits.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200" b="1">
                <a:solidFill>
                  <a:srgbClr val="1A365D"/>
                </a:solidFill>
                <a:latin typeface="Arial"/>
              </a:defRPr>
            </a:pPr>
            <a:r>
              <a:t>Training Strategies and Experimental Design</a:t>
            </a:r>
          </a:p>
          <a:p>
            <a:pPr>
              <a:defRPr sz="1100" i="1">
                <a:solidFill>
                  <a:srgbClr val="718096"/>
                </a:solidFill>
                <a:latin typeface="Arial"/>
              </a:defRPr>
            </a:pPr>
            <a:r>
              <a:t>Contrasting Standard Training (S1) vs. Stochastic Modality Dropout (S2) Across 5 Random Seeds</a:t>
            </a:r>
          </a:p>
        </p:txBody>
      </p:sp>
      <p:sp>
        <p:nvSpPr>
          <p:cNvPr id="3" name="TextBox 2"/>
          <p:cNvSpPr txBox="1"/>
          <p:nvPr/>
        </p:nvSpPr>
        <p:spPr>
          <a:xfrm>
            <a:off x="731520" y="6400800"/>
            <a:ext cx="10698480" cy="365760"/>
          </a:xfrm>
          <a:prstGeom prst="rect">
            <a:avLst/>
          </a:prstGeom>
          <a:noFill/>
        </p:spPr>
        <p:txBody>
          <a:bodyPr wrap="square" lIns="0" tIns="0" rIns="0" bIns="0">
            <a:spAutoFit/>
          </a:bodyPr>
          <a:lstStyle/>
          <a:p>
            <a:pPr>
              <a:defRPr sz="900">
                <a:solidFill>
                  <a:srgbClr val="718096"/>
                </a:solidFill>
                <a:latin typeface="Arial"/>
              </a:defRPr>
            </a:pPr>
            <a:r>
              <a:t>Major Project Review | A Robust Multimodal AI Framework Under Missing Modalities | Slide 6 of 9</a:t>
            </a:r>
          </a:p>
        </p:txBody>
      </p:sp>
      <p:sp>
        <p:nvSpPr>
          <p:cNvPr id="4" name="Rounded Rectangle 3"/>
          <p:cNvSpPr/>
          <p:nvPr/>
        </p:nvSpPr>
        <p:spPr>
          <a:xfrm>
            <a:off x="731520" y="1280160"/>
            <a:ext cx="5120640" cy="274320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2B5C8F"/>
                </a:solidFill>
                <a:latin typeface="Arial"/>
              </a:defRPr>
            </a:pPr>
            <a:r>
              <a:t>Strategy S1: Standard Training (Complete Only)</a:t>
            </a:r>
          </a:p>
          <a:p>
            <a:pPr>
              <a:spcAft>
                <a:spcPts val="300"/>
              </a:spcAft>
              <a:defRPr sz="1050">
                <a:solidFill>
                  <a:srgbClr val="2D3748"/>
                </a:solidFill>
                <a:latin typeface="Arial"/>
              </a:defRPr>
            </a:pPr>
            <a:r>
              <a:t>• Modality Dropout Probability: p = 0.0 (Disabled)</a:t>
            </a:r>
          </a:p>
          <a:p>
            <a:pPr>
              <a:spcAft>
                <a:spcPts val="300"/>
              </a:spcAft>
              <a:defRPr sz="1050">
                <a:solidFill>
                  <a:srgbClr val="2D3748"/>
                </a:solidFill>
                <a:latin typeface="Arial"/>
              </a:defRPr>
            </a:pPr>
            <a:r>
              <a:t>• Training Input: All 4 modalities always present [1, 1, 1, 1].</a:t>
            </a:r>
          </a:p>
          <a:p>
            <a:pPr>
              <a:spcAft>
                <a:spcPts val="300"/>
              </a:spcAft>
              <a:defRPr sz="1050">
                <a:solidFill>
                  <a:srgbClr val="2D3748"/>
                </a:solidFill>
                <a:latin typeface="Arial"/>
              </a:defRPr>
            </a:pPr>
            <a:r>
              <a:t>• Co-adaptation Risk: The network freely relies on co-present modalities and can develop severe dependencies on high-signal assays.</a:t>
            </a:r>
          </a:p>
          <a:p>
            <a:pPr>
              <a:spcAft>
                <a:spcPts val="300"/>
              </a:spcAft>
              <a:defRPr sz="1050">
                <a:solidFill>
                  <a:srgbClr val="2D3748"/>
                </a:solidFill>
                <a:latin typeface="Arial"/>
              </a:defRPr>
            </a:pPr>
            <a:r>
              <a:t>• Vulnerability: Suffers catastrophic collapse when noisy structural modalities (CNV) are isolated at test time (C12: 0.6561 Macro-F1).</a:t>
            </a:r>
          </a:p>
        </p:txBody>
      </p:sp>
      <p:sp>
        <p:nvSpPr>
          <p:cNvPr id="5" name="Rounded Rectangle 4"/>
          <p:cNvSpPr/>
          <p:nvPr/>
        </p:nvSpPr>
        <p:spPr>
          <a:xfrm>
            <a:off x="6126480" y="1280160"/>
            <a:ext cx="5333695" cy="274320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DD6B20"/>
                </a:solidFill>
                <a:latin typeface="Arial"/>
              </a:defRPr>
            </a:pPr>
            <a:r>
              <a:t>Strategy S2: Modality Dropout Training (p = 0.3)</a:t>
            </a:r>
          </a:p>
          <a:p>
            <a:pPr>
              <a:spcAft>
                <a:spcPts val="300"/>
              </a:spcAft>
              <a:defRPr sz="1050">
                <a:solidFill>
                  <a:srgbClr val="2D3748"/>
                </a:solidFill>
                <a:latin typeface="Arial"/>
              </a:defRPr>
            </a:pPr>
            <a:r>
              <a:t>• Modality Dropout Probability: p = 0.3 (Active during training)</a:t>
            </a:r>
          </a:p>
          <a:p>
            <a:pPr>
              <a:spcAft>
                <a:spcPts val="300"/>
              </a:spcAft>
              <a:defRPr sz="1050">
                <a:solidFill>
                  <a:srgbClr val="2D3748"/>
                </a:solidFill>
                <a:latin typeface="Arial"/>
              </a:defRPr>
            </a:pPr>
            <a:r>
              <a:t>• Stochastic Dropping: In each mini-batch, each modality is independently masked out with 30% probability (ensuring &gt;=1 active).</a:t>
            </a:r>
          </a:p>
          <a:p>
            <a:pPr>
              <a:spcAft>
                <a:spcPts val="300"/>
              </a:spcAft>
              <a:defRPr sz="1050">
                <a:solidFill>
                  <a:srgbClr val="2D3748"/>
                </a:solidFill>
                <a:latin typeface="Arial"/>
              </a:defRPr>
            </a:pPr>
            <a:r>
              <a:t>• Regularization Effect: Forces each modality encoder to learn autonomous diagnostic representations, preventing co-dependence.</a:t>
            </a:r>
          </a:p>
          <a:p>
            <a:pPr>
              <a:spcAft>
                <a:spcPts val="300"/>
              </a:spcAft>
              <a:defRPr sz="1050">
                <a:solidFill>
                  <a:srgbClr val="2D3748"/>
                </a:solidFill>
                <a:latin typeface="Arial"/>
              </a:defRPr>
            </a:pPr>
            <a:r>
              <a:t>• Robustness Benefit: Boosts isolated CNV classification by +8.52% (C12: 0.7412 Macro-F1) with zero penalty on complete data.</a:t>
            </a:r>
          </a:p>
        </p:txBody>
      </p:sp>
      <p:sp>
        <p:nvSpPr>
          <p:cNvPr id="6" name="Rounded Rectangle 5"/>
          <p:cNvSpPr/>
          <p:nvPr/>
        </p:nvSpPr>
        <p:spPr>
          <a:xfrm>
            <a:off x="731520" y="4206240"/>
            <a:ext cx="10728655" cy="196596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1A365D"/>
                </a:solidFill>
                <a:latin typeface="Arial"/>
              </a:defRPr>
            </a:pPr>
            <a:r>
              <a:t>Verified Training Configuration &amp; Checkpoint Selection Logic</a:t>
            </a:r>
          </a:p>
          <a:p>
            <a:pPr>
              <a:spcAft>
                <a:spcPts val="300"/>
              </a:spcAft>
              <a:defRPr sz="1050">
                <a:solidFill>
                  <a:srgbClr val="2D3748"/>
                </a:solidFill>
                <a:latin typeface="Arial"/>
              </a:defRPr>
            </a:pPr>
            <a:r>
              <a:t>• Loss Function: Categorical Cross-Entropy (torch.nn.CrossEntropyLoss).</a:t>
            </a:r>
          </a:p>
          <a:p>
            <a:pPr>
              <a:spcAft>
                <a:spcPts val="300"/>
              </a:spcAft>
              <a:defRPr sz="1050">
                <a:solidFill>
                  <a:srgbClr val="2D3748"/>
                </a:solidFill>
                <a:latin typeface="Arial"/>
              </a:defRPr>
            </a:pPr>
            <a:r>
              <a:t>• Optimizer &amp; Regularization: AdamW with learning rate = 1e-3, weight decay = 1e-4, gradient clipping = 1.0.</a:t>
            </a:r>
          </a:p>
          <a:p>
            <a:pPr>
              <a:spcAft>
                <a:spcPts val="300"/>
              </a:spcAft>
              <a:defRPr sz="1050">
                <a:solidFill>
                  <a:srgbClr val="2D3748"/>
                </a:solidFill>
                <a:latin typeface="Arial"/>
              </a:defRPr>
            </a:pPr>
            <a:r>
              <a:t>• Learning Rate Schedule: Cosine Annealing (T_max = 100 epochs, eta_min = 1e-6). Batch size = 64.</a:t>
            </a:r>
          </a:p>
          <a:p>
            <a:pPr>
              <a:spcAft>
                <a:spcPts val="300"/>
              </a:spcAft>
              <a:defRPr sz="1050">
                <a:solidFill>
                  <a:srgbClr val="2D3748"/>
                </a:solidFill>
                <a:latin typeface="Arial"/>
              </a:defRPr>
            </a:pPr>
            <a:r>
              <a:t>• Multi-Seed Protocol: 5 fixed random seeds ([42, 123, 456, 789, 1024]) for all models and baselines.</a:t>
            </a:r>
          </a:p>
          <a:p>
            <a:pPr>
              <a:spcAft>
                <a:spcPts val="300"/>
              </a:spcAft>
              <a:defRPr sz="1050">
                <a:solidFill>
                  <a:srgbClr val="2D3748"/>
                </a:solidFill>
                <a:latin typeface="Arial"/>
              </a:defRPr>
            </a:pPr>
            <a:r>
              <a:t>• Checkpoint Selection: Best weights selected at minimum validation loss with 15-epoch early stopping (no test leakage).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200" b="1">
                <a:solidFill>
                  <a:srgbClr val="1A365D"/>
                </a:solidFill>
                <a:latin typeface="Arial"/>
              </a:defRPr>
            </a:pPr>
            <a:r>
              <a:t>Evaluation Methodology &amp; Paired Statistical Framework</a:t>
            </a:r>
          </a:p>
          <a:p>
            <a:pPr>
              <a:defRPr sz="1100" i="1">
                <a:solidFill>
                  <a:srgbClr val="718096"/>
                </a:solidFill>
                <a:latin typeface="Arial"/>
              </a:defRPr>
            </a:pPr>
            <a:r>
              <a:t>Held-Out Test Assessment Across 15 Conditions with Seed-Paired Hypothesis Testing</a:t>
            </a:r>
          </a:p>
        </p:txBody>
      </p:sp>
      <p:sp>
        <p:nvSpPr>
          <p:cNvPr id="3" name="TextBox 2"/>
          <p:cNvSpPr txBox="1"/>
          <p:nvPr/>
        </p:nvSpPr>
        <p:spPr>
          <a:xfrm>
            <a:off x="731520" y="6400800"/>
            <a:ext cx="10698480" cy="365760"/>
          </a:xfrm>
          <a:prstGeom prst="rect">
            <a:avLst/>
          </a:prstGeom>
          <a:noFill/>
        </p:spPr>
        <p:txBody>
          <a:bodyPr wrap="square" lIns="0" tIns="0" rIns="0" bIns="0">
            <a:spAutoFit/>
          </a:bodyPr>
          <a:lstStyle/>
          <a:p>
            <a:pPr>
              <a:defRPr sz="900">
                <a:solidFill>
                  <a:srgbClr val="718096"/>
                </a:solidFill>
                <a:latin typeface="Arial"/>
              </a:defRPr>
            </a:pPr>
            <a:r>
              <a:t>Major Project Review | A Robust Multimodal AI Framework Under Missing Modalities | Slide 7 of 9</a:t>
            </a:r>
          </a:p>
        </p:txBody>
      </p:sp>
      <p:pic>
        <p:nvPicPr>
          <p:cNvPr id="4" name="Picture 3" descr="B1_missing_condition_performance.png"/>
          <p:cNvPicPr>
            <a:picLocks noChangeAspect="1"/>
          </p:cNvPicPr>
          <p:nvPr/>
        </p:nvPicPr>
        <p:blipFill>
          <a:blip r:embed="rId2"/>
          <a:stretch>
            <a:fillRect/>
          </a:stretch>
        </p:blipFill>
        <p:spPr>
          <a:xfrm>
            <a:off x="731520" y="1280160"/>
            <a:ext cx="6400800" cy="3840480"/>
          </a:xfrm>
          <a:prstGeom prst="rect">
            <a:avLst/>
          </a:prstGeom>
        </p:spPr>
      </p:pic>
      <p:sp>
        <p:nvSpPr>
          <p:cNvPr id="5" name="Rounded Rectangle 4"/>
          <p:cNvSpPr/>
          <p:nvPr/>
        </p:nvSpPr>
        <p:spPr>
          <a:xfrm>
            <a:off x="7315200" y="1280160"/>
            <a:ext cx="4144975" cy="384048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1A365D"/>
                </a:solidFill>
                <a:latin typeface="Arial"/>
              </a:defRPr>
            </a:pPr>
            <a:r>
              <a:t>Statistical Testing Protocol</a:t>
            </a:r>
          </a:p>
          <a:p>
            <a:pPr>
              <a:spcAft>
                <a:spcPts val="300"/>
              </a:spcAft>
              <a:defRPr sz="1050">
                <a:solidFill>
                  <a:srgbClr val="2D3748"/>
                </a:solidFill>
                <a:latin typeface="Arial"/>
              </a:defRPr>
            </a:pPr>
            <a:r>
              <a:t>Evaluation Metrics Computed:</a:t>
            </a:r>
          </a:p>
          <a:p>
            <a:pPr>
              <a:spcAft>
                <a:spcPts val="300"/>
              </a:spcAft>
              <a:defRPr sz="1050">
                <a:solidFill>
                  <a:srgbClr val="2D3748"/>
                </a:solidFill>
                <a:latin typeface="Arial"/>
              </a:defRPr>
            </a:pPr>
            <a:r>
              <a:t>• Primary: Macro-F1 (unweighted class average)</a:t>
            </a:r>
          </a:p>
          <a:p>
            <a:pPr>
              <a:spcAft>
                <a:spcPts val="300"/>
              </a:spcAft>
              <a:defRPr sz="1050">
                <a:solidFill>
                  <a:srgbClr val="2D3748"/>
                </a:solidFill>
                <a:latin typeface="Arial"/>
              </a:defRPr>
            </a:pPr>
            <a:r>
              <a:t>• Secondary: Overall Accuracy, Balanced Accuracy, Weighted F1, MCC, ROC-AUC, PR-AUC.</a:t>
            </a:r>
          </a:p>
          <a:p>
            <a:pPr>
              <a:spcAft>
                <a:spcPts val="300"/>
              </a:spcAft>
              <a:defRPr sz="1050">
                <a:solidFill>
                  <a:srgbClr val="2D3748"/>
                </a:solidFill>
                <a:latin typeface="Arial"/>
              </a:defRPr>
            </a:pPr>
          </a:p>
          <a:p>
            <a:pPr>
              <a:spcAft>
                <a:spcPts val="300"/>
              </a:spcAft>
              <a:defRPr sz="1050">
                <a:solidFill>
                  <a:srgbClr val="2D3748"/>
                </a:solidFill>
                <a:latin typeface="Arial"/>
              </a:defRPr>
            </a:pPr>
            <a:r>
              <a:t>Paired Hypothesis Testing:</a:t>
            </a:r>
          </a:p>
          <a:p>
            <a:pPr>
              <a:spcAft>
                <a:spcPts val="300"/>
              </a:spcAft>
              <a:defRPr sz="1050">
                <a:solidFill>
                  <a:srgbClr val="2D3748"/>
                </a:solidFill>
                <a:latin typeface="Arial"/>
              </a:defRPr>
            </a:pPr>
            <a:r>
              <a:t>• S1 and S2 share the exact same 340 test patients and matching seeds [42, 123, 456, 789, 1024].</a:t>
            </a:r>
          </a:p>
          <a:p>
            <a:pPr>
              <a:spcAft>
                <a:spcPts val="300"/>
              </a:spcAft>
              <a:defRPr sz="1050">
                <a:solidFill>
                  <a:srgbClr val="2D3748"/>
                </a:solidFill>
                <a:latin typeface="Arial"/>
              </a:defRPr>
            </a:pPr>
            <a:r>
              <a:t>• Paired Student's t-test (df = 4)</a:t>
            </a:r>
          </a:p>
          <a:p>
            <a:pPr>
              <a:spcAft>
                <a:spcPts val="300"/>
              </a:spcAft>
              <a:defRPr sz="1050">
                <a:solidFill>
                  <a:srgbClr val="2D3748"/>
                </a:solidFill>
                <a:latin typeface="Arial"/>
              </a:defRPr>
            </a:pPr>
            <a:r>
              <a:t>• Paired Cohen's d = mean(diff) / std(diff)</a:t>
            </a:r>
          </a:p>
          <a:p>
            <a:pPr>
              <a:spcAft>
                <a:spcPts val="300"/>
              </a:spcAft>
              <a:defRPr sz="1050">
                <a:solidFill>
                  <a:srgbClr val="2D3748"/>
                </a:solidFill>
                <a:latin typeface="Arial"/>
              </a:defRPr>
            </a:pPr>
            <a:r>
              <a:t>• Wilcoxon signed-rank test.</a:t>
            </a:r>
          </a:p>
          <a:p>
            <a:pPr>
              <a:spcAft>
                <a:spcPts val="300"/>
              </a:spcAft>
              <a:defRPr sz="1050">
                <a:solidFill>
                  <a:srgbClr val="2D3748"/>
                </a:solidFill>
                <a:latin typeface="Arial"/>
              </a:defRPr>
            </a:pPr>
          </a:p>
          <a:p>
            <a:pPr>
              <a:spcAft>
                <a:spcPts val="300"/>
              </a:spcAft>
              <a:defRPr sz="1050">
                <a:solidFill>
                  <a:srgbClr val="2D3748"/>
                </a:solidFill>
                <a:latin typeface="Arial"/>
              </a:defRPr>
            </a:pPr>
            <a:r>
              <a:t>Verified Condition C12 (Only CNV):</a:t>
            </a:r>
          </a:p>
          <a:p>
            <a:pPr>
              <a:spcAft>
                <a:spcPts val="300"/>
              </a:spcAft>
              <a:defRPr sz="1050">
                <a:solidFill>
                  <a:srgbClr val="2D3748"/>
                </a:solidFill>
                <a:latin typeface="Arial"/>
              </a:defRPr>
            </a:pPr>
            <a:r>
              <a:t>• S1 Mean: 0.6561 ± 0.0892</a:t>
            </a:r>
          </a:p>
          <a:p>
            <a:pPr>
              <a:spcAft>
                <a:spcPts val="300"/>
              </a:spcAft>
              <a:defRPr sz="1050">
                <a:solidFill>
                  <a:srgbClr val="2D3748"/>
                </a:solidFill>
                <a:latin typeface="Arial"/>
              </a:defRPr>
            </a:pPr>
            <a:r>
              <a:t>• S2 Mean: 0.7412 ± 0.0476</a:t>
            </a:r>
          </a:p>
          <a:p>
            <a:pPr>
              <a:spcAft>
                <a:spcPts val="300"/>
              </a:spcAft>
              <a:defRPr sz="1050">
                <a:solidFill>
                  <a:srgbClr val="2D3748"/>
                </a:solidFill>
                <a:latin typeface="Arial"/>
              </a:defRPr>
            </a:pPr>
            <a:r>
              <a:t>• Paired Gain: +0.0852 (+8.52%, d = 0.7425)</a:t>
            </a:r>
          </a:p>
          <a:p>
            <a:pPr>
              <a:spcAft>
                <a:spcPts val="300"/>
              </a:spcAft>
              <a:defRPr sz="1050">
                <a:solidFill>
                  <a:srgbClr val="2D3748"/>
                </a:solidFill>
                <a:latin typeface="Arial"/>
              </a:defRPr>
            </a:pPr>
            <a:r>
              <a:t>• Paired t = 1.6603, p = 0.1722</a:t>
            </a:r>
          </a:p>
          <a:p>
            <a:pPr>
              <a:spcAft>
                <a:spcPts val="300"/>
              </a:spcAft>
              <a:defRPr sz="1050">
                <a:solidFill>
                  <a:srgbClr val="2D3748"/>
                </a:solidFill>
                <a:latin typeface="Arial"/>
              </a:defRPr>
            </a:pPr>
            <a:r>
              <a:t>• 95% Confidence Interval: [-0.0573, +0.2276].</a:t>
            </a:r>
          </a:p>
        </p:txBody>
      </p:sp>
      <p:sp>
        <p:nvSpPr>
          <p:cNvPr id="6" name="Rounded Rectangle 5"/>
          <p:cNvSpPr/>
          <p:nvPr/>
        </p:nvSpPr>
        <p:spPr>
          <a:xfrm>
            <a:off x="731520" y="5257800"/>
            <a:ext cx="10728655" cy="914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1A365D"/>
                </a:solidFill>
                <a:latin typeface="Arial"/>
              </a:defRPr>
            </a:pPr>
            <a:r>
              <a:t>Methodological Caveat: Seed Variability vs. Cohort Uncertainty</a:t>
            </a:r>
          </a:p>
          <a:p>
            <a:pPr>
              <a:spcAft>
                <a:spcPts val="300"/>
              </a:spcAft>
              <a:defRPr sz="1050">
                <a:solidFill>
                  <a:srgbClr val="2D3748"/>
                </a:solidFill>
                <a:latin typeface="Arial"/>
              </a:defRPr>
            </a:pPr>
            <a:r>
              <a:t>• Variance Units: Standard deviations and confidence intervals quantify algorithmic training variance (initialization and dropout stochasticity) across 5 seeds on 340 fixed test patients, NOT patient population sampling variance.</a:t>
            </a:r>
          </a:p>
          <a:p>
            <a:pPr>
              <a:spcAft>
                <a:spcPts val="300"/>
              </a:spcAft>
              <a:defRPr sz="1050">
                <a:solidFill>
                  <a:srgbClr val="2D3748"/>
                </a:solidFill>
                <a:latin typeface="Arial"/>
              </a:defRPr>
            </a:pPr>
            <a:r>
              <a:t>• Non-Significant at α=0.05: Although S2 outperforms S1 on 4 of 5 seeds with an empirically large effect (d=0.7425), p=0.1722 does not attain nominal statistical significance due to limited degrees of freedom (df=4).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200" b="1">
                <a:solidFill>
                  <a:srgbClr val="1A365D"/>
                </a:solidFill>
                <a:latin typeface="Arial"/>
              </a:defRPr>
            </a:pPr>
            <a:r>
              <a:t>Implementation Timeline and Verified Project Status</a:t>
            </a:r>
          </a:p>
          <a:p>
            <a:pPr>
              <a:defRPr sz="1100" i="1">
                <a:solidFill>
                  <a:srgbClr val="718096"/>
                </a:solidFill>
                <a:latin typeface="Arial"/>
              </a:defRPr>
            </a:pPr>
            <a:r>
              <a:t>Audited Milestone Completion Table Distinguishing Completed Deliverables from Future Work</a:t>
            </a:r>
          </a:p>
        </p:txBody>
      </p:sp>
      <p:sp>
        <p:nvSpPr>
          <p:cNvPr id="3" name="TextBox 2"/>
          <p:cNvSpPr txBox="1"/>
          <p:nvPr/>
        </p:nvSpPr>
        <p:spPr>
          <a:xfrm>
            <a:off x="731520" y="6400800"/>
            <a:ext cx="10698480" cy="365760"/>
          </a:xfrm>
          <a:prstGeom prst="rect">
            <a:avLst/>
          </a:prstGeom>
          <a:noFill/>
        </p:spPr>
        <p:txBody>
          <a:bodyPr wrap="square" lIns="0" tIns="0" rIns="0" bIns="0">
            <a:spAutoFit/>
          </a:bodyPr>
          <a:lstStyle/>
          <a:p>
            <a:pPr>
              <a:defRPr sz="900">
                <a:solidFill>
                  <a:srgbClr val="718096"/>
                </a:solidFill>
                <a:latin typeface="Arial"/>
              </a:defRPr>
            </a:pPr>
            <a:r>
              <a:t>Major Project Review | A Robust Multimodal AI Framework Under Missing Modalities | Slide 8 of 9</a:t>
            </a:r>
          </a:p>
        </p:txBody>
      </p:sp>
      <p:sp>
        <p:nvSpPr>
          <p:cNvPr id="4" name="Rounded Rectangle 3"/>
          <p:cNvSpPr/>
          <p:nvPr/>
        </p:nvSpPr>
        <p:spPr>
          <a:xfrm>
            <a:off x="731520" y="1280160"/>
            <a:ext cx="10728655" cy="384048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1A365D"/>
                </a:solidFill>
                <a:latin typeface="Arial"/>
              </a:defRPr>
            </a:pPr>
            <a:r>
              <a:t>7-Stage Project Implementation Dashboard</a:t>
            </a:r>
          </a:p>
          <a:p>
            <a:pPr>
              <a:spcAft>
                <a:spcPts val="300"/>
              </a:spcAft>
              <a:defRPr sz="1050">
                <a:solidFill>
                  <a:srgbClr val="2D3748"/>
                </a:solidFill>
                <a:latin typeface="Arial"/>
              </a:defRPr>
            </a:pPr>
            <a:r>
              <a:t>Stage 1 — Dataset Selection &amp; Cohort Audit:  [✅ COMPLETED]</a:t>
            </a:r>
          </a:p>
          <a:p>
            <a:pPr>
              <a:spcAft>
                <a:spcPts val="300"/>
              </a:spcAft>
              <a:defRPr sz="1050">
                <a:solidFill>
                  <a:srgbClr val="2D3748"/>
                </a:solidFill>
                <a:latin typeface="Arial"/>
              </a:defRPr>
            </a:pPr>
            <a:r>
              <a:t>  • Verified 2,263 unique patients across BRCA, HNSC, LGG, THCA; 26/26 automated audit checks passed.</a:t>
            </a:r>
          </a:p>
          <a:p>
            <a:pPr>
              <a:spcAft>
                <a:spcPts val="300"/>
              </a:spcAft>
              <a:defRPr sz="1050">
                <a:solidFill>
                  <a:srgbClr val="2D3748"/>
                </a:solidFill>
                <a:latin typeface="Arial"/>
              </a:defRPr>
            </a:pPr>
            <a:r>
              <a:t>Stage 2 — Preprocessing &amp; Partitioning:  [✅ COMPLETED]</a:t>
            </a:r>
          </a:p>
          <a:p>
            <a:pPr>
              <a:spcAft>
                <a:spcPts val="300"/>
              </a:spcAft>
              <a:defRPr sz="1050">
                <a:solidFill>
                  <a:srgbClr val="2D3748"/>
                </a:solidFill>
                <a:latin typeface="Arial"/>
              </a:defRPr>
            </a:pPr>
            <a:r>
              <a:t>  • Stratified 70/15/15 split; StandardScaler &amp; MinMaxScaler fitted strictly on training data; zero leakage.</a:t>
            </a:r>
          </a:p>
          <a:p>
            <a:pPr>
              <a:spcAft>
                <a:spcPts val="300"/>
              </a:spcAft>
              <a:defRPr sz="1050">
                <a:solidFill>
                  <a:srgbClr val="2D3748"/>
                </a:solidFill>
                <a:latin typeface="Arial"/>
              </a:defRPr>
            </a:pPr>
            <a:r>
              <a:t>Stage 3 — Proposed Architecture Implementation:  [✅ COMPLETED]</a:t>
            </a:r>
          </a:p>
          <a:p>
            <a:pPr>
              <a:spcAft>
                <a:spcPts val="300"/>
              </a:spcAft>
              <a:defRPr sz="1050">
                <a:solidFill>
                  <a:srgbClr val="2D3748"/>
                </a:solidFill>
                <a:latin typeface="Arial"/>
              </a:defRPr>
            </a:pPr>
            <a:r>
              <a:t>  • Encoders, learned missing tokens, multi-head attention fusion, mask-aware mean pooling, classifier head.</a:t>
            </a:r>
          </a:p>
          <a:p>
            <a:pPr>
              <a:spcAft>
                <a:spcPts val="300"/>
              </a:spcAft>
              <a:defRPr sz="1050">
                <a:solidFill>
                  <a:srgbClr val="2D3748"/>
                </a:solidFill>
                <a:latin typeface="Arial"/>
              </a:defRPr>
            </a:pPr>
            <a:r>
              <a:t>Stage 4 — Missing-Modality Robustness Design:  [✅ COMPLETED]</a:t>
            </a:r>
          </a:p>
          <a:p>
            <a:pPr>
              <a:spcAft>
                <a:spcPts val="300"/>
              </a:spcAft>
              <a:defRPr sz="1050">
                <a:solidFill>
                  <a:srgbClr val="2D3748"/>
                </a:solidFill>
                <a:latin typeface="Arial"/>
              </a:defRPr>
            </a:pPr>
            <a:r>
              <a:t>  • Implemented 15 condition masks (C0–C14); unit tests verified numerical perturbation invariance.</a:t>
            </a:r>
          </a:p>
          <a:p>
            <a:pPr>
              <a:spcAft>
                <a:spcPts val="300"/>
              </a:spcAft>
              <a:defRPr sz="1050">
                <a:solidFill>
                  <a:srgbClr val="2D3748"/>
                </a:solidFill>
                <a:latin typeface="Arial"/>
              </a:defRPr>
            </a:pPr>
            <a:r>
              <a:t>Stage 5 — Model Training &amp; Checkpoint Generation:  [✅ COMPLETED]</a:t>
            </a:r>
          </a:p>
          <a:p>
            <a:pPr>
              <a:spcAft>
                <a:spcPts val="300"/>
              </a:spcAft>
              <a:defRPr sz="1050">
                <a:solidFill>
                  <a:srgbClr val="2D3748"/>
                </a:solidFill>
                <a:latin typeface="Arial"/>
              </a:defRPr>
            </a:pPr>
            <a:r>
              <a:t>  • Trained S1, S2, and 6 baselines (D1–D6) across 5 seeds; all 59 PyTorch checkpoints saved and verified.</a:t>
            </a:r>
          </a:p>
          <a:p>
            <a:pPr>
              <a:spcAft>
                <a:spcPts val="300"/>
              </a:spcAft>
              <a:defRPr sz="1050">
                <a:solidFill>
                  <a:srgbClr val="2D3748"/>
                </a:solidFill>
                <a:latin typeface="Arial"/>
              </a:defRPr>
            </a:pPr>
            <a:r>
              <a:t>Stage 6 — Stress-Testing &amp; Paired Statistical Tests:  [✅ COMPLETED]</a:t>
            </a:r>
          </a:p>
          <a:p>
            <a:pPr>
              <a:spcAft>
                <a:spcPts val="300"/>
              </a:spcAft>
              <a:defRPr sz="1050">
                <a:solidFill>
                  <a:srgbClr val="2D3748"/>
                </a:solidFill>
                <a:latin typeface="Arial"/>
              </a:defRPr>
            </a:pPr>
            <a:r>
              <a:t>  • 150 evaluations computed; machine-readable JSON, CSV, and Markdown statistical reports generated.</a:t>
            </a:r>
          </a:p>
          <a:p>
            <a:pPr>
              <a:spcAft>
                <a:spcPts val="300"/>
              </a:spcAft>
              <a:defRPr sz="1050">
                <a:solidFill>
                  <a:srgbClr val="2D3748"/>
                </a:solidFill>
                <a:latin typeface="Arial"/>
              </a:defRPr>
            </a:pPr>
            <a:r>
              <a:t>Stage 7 — Visualization &amp; Presentation Deliverables:  [✅ COMPLETED]</a:t>
            </a:r>
          </a:p>
          <a:p>
            <a:pPr>
              <a:spcAft>
                <a:spcPts val="300"/>
              </a:spcAft>
              <a:defRPr sz="1050">
                <a:solidFill>
                  <a:srgbClr val="2D3748"/>
                </a:solidFill>
                <a:latin typeface="Arial"/>
              </a:defRPr>
            </a:pPr>
            <a:r>
              <a:t>  • Generated 24 publication-grade figures (300 DPI), comprehensive presentation deck, and paper draft.</a:t>
            </a:r>
          </a:p>
        </p:txBody>
      </p:sp>
      <p:sp>
        <p:nvSpPr>
          <p:cNvPr id="5" name="Rounded Rectangle 4"/>
          <p:cNvSpPr/>
          <p:nvPr/>
        </p:nvSpPr>
        <p:spPr>
          <a:xfrm>
            <a:off x="731520" y="5257800"/>
            <a:ext cx="10728655" cy="914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1A365D"/>
                </a:solidFill>
                <a:latin typeface="Arial"/>
              </a:defRPr>
            </a:pPr>
            <a:r>
              <a:t>Explicit Identification of Pending Experiments &amp; Future Work</a:t>
            </a:r>
          </a:p>
          <a:p>
            <a:pPr>
              <a:spcAft>
                <a:spcPts val="300"/>
              </a:spcAft>
              <a:defRPr sz="1050">
                <a:solidFill>
                  <a:srgbClr val="2D3748"/>
                </a:solidFill>
                <a:latin typeface="Arial"/>
              </a:defRPr>
            </a:pPr>
            <a:r>
              <a:t>• External Cohort Validation: Multi-hospital validation on external CPTAC or ICGC cohorts has not been run (pending future work).</a:t>
            </a:r>
          </a:p>
          <a:p>
            <a:pPr>
              <a:spcAft>
                <a:spcPts val="300"/>
              </a:spcAft>
              <a:defRPr sz="1050">
                <a:solidFill>
                  <a:srgbClr val="2D3748"/>
                </a:solidFill>
                <a:latin typeface="Arial"/>
              </a:defRPr>
            </a:pPr>
            <a:r>
              <a:t>• Baseline Imputation Benchmarking: LightGBM and Early Fusion MLP were evaluated on complete inputs only (pending imputation benchmarking).</a:t>
            </a:r>
          </a:p>
          <a:p>
            <a:pPr>
              <a:spcAft>
                <a:spcPts val="300"/>
              </a:spcAft>
              <a:defRPr sz="1050">
                <a:solidFill>
                  <a:srgbClr val="2D3748"/>
                </a:solidFill>
                <a:latin typeface="Arial"/>
              </a:defRPr>
            </a:pPr>
            <a:r>
              <a:t>• Large-N Power Scaling: Expanding seed evaluations from N=5 to N=30 to achieve formal non-parametric statistical significance.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200" b="1">
                <a:solidFill>
                  <a:srgbClr val="1A365D"/>
                </a:solidFill>
                <a:latin typeface="Arial"/>
              </a:defRPr>
            </a:pPr>
            <a:r>
              <a:t>Methodology Summary and Research Contributions</a:t>
            </a:r>
          </a:p>
          <a:p>
            <a:pPr>
              <a:defRPr sz="1100" i="1">
                <a:solidFill>
                  <a:srgbClr val="718096"/>
                </a:solidFill>
                <a:latin typeface="Arial"/>
              </a:defRPr>
            </a:pPr>
            <a:r>
              <a:t>Four Core Architectural &amp; Methodological Pillars for Robust Multimodal AI</a:t>
            </a:r>
          </a:p>
        </p:txBody>
      </p:sp>
      <p:sp>
        <p:nvSpPr>
          <p:cNvPr id="3" name="TextBox 2"/>
          <p:cNvSpPr txBox="1"/>
          <p:nvPr/>
        </p:nvSpPr>
        <p:spPr>
          <a:xfrm>
            <a:off x="731520" y="6400800"/>
            <a:ext cx="10698480" cy="365760"/>
          </a:xfrm>
          <a:prstGeom prst="rect">
            <a:avLst/>
          </a:prstGeom>
          <a:noFill/>
        </p:spPr>
        <p:txBody>
          <a:bodyPr wrap="square" lIns="0" tIns="0" rIns="0" bIns="0">
            <a:spAutoFit/>
          </a:bodyPr>
          <a:lstStyle/>
          <a:p>
            <a:pPr>
              <a:defRPr sz="900">
                <a:solidFill>
                  <a:srgbClr val="718096"/>
                </a:solidFill>
                <a:latin typeface="Arial"/>
              </a:defRPr>
            </a:pPr>
            <a:r>
              <a:t>Major Project Review | A Robust Multimodal AI Framework Under Missing Modalities | Slide 9 of 9</a:t>
            </a:r>
          </a:p>
        </p:txBody>
      </p:sp>
      <p:sp>
        <p:nvSpPr>
          <p:cNvPr id="4" name="Rounded Rectangle 3"/>
          <p:cNvSpPr/>
          <p:nvPr/>
        </p:nvSpPr>
        <p:spPr>
          <a:xfrm>
            <a:off x="731520" y="1280160"/>
            <a:ext cx="5120640" cy="228600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2B5C8F"/>
                </a:solidFill>
                <a:latin typeface="Arial"/>
              </a:defRPr>
            </a:pPr>
            <a:r>
              <a:t>1. Multi-Tier Omics Integration</a:t>
            </a:r>
          </a:p>
          <a:p>
            <a:pPr>
              <a:spcAft>
                <a:spcPts val="300"/>
              </a:spcAft>
              <a:defRPr sz="1050">
                <a:solidFill>
                  <a:srgbClr val="2D3748"/>
                </a:solidFill>
                <a:latin typeface="Arial"/>
              </a:defRPr>
            </a:pPr>
            <a:r>
              <a:t>• Unifies transcriptomic (mRNA), regulatory (miRNA), structural (CNV), and epigenetic (Methy) layers.</a:t>
            </a:r>
          </a:p>
          <a:p>
            <a:pPr>
              <a:spcAft>
                <a:spcPts val="300"/>
              </a:spcAft>
              <a:defRPr sz="1050">
                <a:solidFill>
                  <a:srgbClr val="2D3748"/>
                </a:solidFill>
                <a:latin typeface="Arial"/>
              </a:defRPr>
            </a:pPr>
            <a:r>
              <a:t>• 9,844 biological features across 2,263 unique patients.</a:t>
            </a:r>
          </a:p>
          <a:p>
            <a:pPr>
              <a:spcAft>
                <a:spcPts val="300"/>
              </a:spcAft>
              <a:defRPr sz="1050">
                <a:solidFill>
                  <a:srgbClr val="2D3748"/>
                </a:solidFill>
                <a:latin typeface="Arial"/>
              </a:defRPr>
            </a:pPr>
            <a:r>
              <a:t>• Non-linear encoders map assays to D=128 latent space.</a:t>
            </a:r>
          </a:p>
        </p:txBody>
      </p:sp>
      <p:sp>
        <p:nvSpPr>
          <p:cNvPr id="5" name="Rounded Rectangle 4"/>
          <p:cNvSpPr/>
          <p:nvPr/>
        </p:nvSpPr>
        <p:spPr>
          <a:xfrm>
            <a:off x="6126480" y="1280160"/>
            <a:ext cx="5333695" cy="228600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319795"/>
                </a:solidFill>
                <a:latin typeface="Arial"/>
              </a:defRPr>
            </a:pPr>
            <a:r>
              <a:t>2. Native Missingness Handling</a:t>
            </a:r>
          </a:p>
          <a:p>
            <a:pPr>
              <a:spcAft>
                <a:spcPts val="300"/>
              </a:spcAft>
              <a:defRPr sz="1050">
                <a:solidFill>
                  <a:srgbClr val="2D3748"/>
                </a:solidFill>
                <a:latin typeface="Arial"/>
              </a:defRPr>
            </a:pPr>
            <a:r>
              <a:t>• Availability mask M guides token replacement and pooling.</a:t>
            </a:r>
          </a:p>
          <a:p>
            <a:pPr>
              <a:spcAft>
                <a:spcPts val="300"/>
              </a:spcAft>
              <a:defRPr sz="1050">
                <a:solidFill>
                  <a:srgbClr val="2D3748"/>
                </a:solidFill>
                <a:latin typeface="Arial"/>
              </a:defRPr>
            </a:pPr>
            <a:r>
              <a:t>• Learned default missing tokens preserve sequence geometry.</a:t>
            </a:r>
          </a:p>
          <a:p>
            <a:pPr>
              <a:spcAft>
                <a:spcPts val="300"/>
              </a:spcAft>
              <a:defRPr sz="1050">
                <a:solidFill>
                  <a:srgbClr val="2D3748"/>
                </a:solidFill>
                <a:latin typeface="Arial"/>
              </a:defRPr>
            </a:pPr>
            <a:r>
              <a:t>• Mathematical invariance to absent features verified by unit tests (max diff = 0.0).</a:t>
            </a:r>
          </a:p>
        </p:txBody>
      </p:sp>
      <p:sp>
        <p:nvSpPr>
          <p:cNvPr id="6" name="Rounded Rectangle 5"/>
          <p:cNvSpPr/>
          <p:nvPr/>
        </p:nvSpPr>
        <p:spPr>
          <a:xfrm>
            <a:off x="731520" y="3749039"/>
            <a:ext cx="5120640" cy="242316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DD6B20"/>
                </a:solidFill>
                <a:latin typeface="Arial"/>
              </a:defRPr>
            </a:pPr>
            <a:r>
              <a:t>3. Modality Dropout Training</a:t>
            </a:r>
          </a:p>
          <a:p>
            <a:pPr>
              <a:spcAft>
                <a:spcPts val="300"/>
              </a:spcAft>
              <a:defRPr sz="1050">
                <a:solidFill>
                  <a:srgbClr val="2D3748"/>
                </a:solidFill>
                <a:latin typeface="Arial"/>
              </a:defRPr>
            </a:pPr>
            <a:r>
              <a:t>• Regularizes encoders during training with p = 0.3 dropout.</a:t>
            </a:r>
          </a:p>
          <a:p>
            <a:pPr>
              <a:spcAft>
                <a:spcPts val="300"/>
              </a:spcAft>
              <a:defRPr sz="1050">
                <a:solidFill>
                  <a:srgbClr val="2D3748"/>
                </a:solidFill>
                <a:latin typeface="Arial"/>
              </a:defRPr>
            </a:pPr>
            <a:r>
              <a:t>• Prevents inter-modality co-adaptation.</a:t>
            </a:r>
          </a:p>
          <a:p>
            <a:pPr>
              <a:spcAft>
                <a:spcPts val="300"/>
              </a:spcAft>
              <a:defRPr sz="1050">
                <a:solidFill>
                  <a:srgbClr val="2D3748"/>
                </a:solidFill>
                <a:latin typeface="Arial"/>
              </a:defRPr>
            </a:pPr>
            <a:r>
              <a:t>• Delivers +8.52% empirical gain under isolated CNV (C12) with zero degradation on complete inputs.</a:t>
            </a:r>
          </a:p>
        </p:txBody>
      </p:sp>
      <p:sp>
        <p:nvSpPr>
          <p:cNvPr id="7" name="Rounded Rectangle 6"/>
          <p:cNvSpPr/>
          <p:nvPr/>
        </p:nvSpPr>
        <p:spPr>
          <a:xfrm>
            <a:off x="6126480" y="3749039"/>
            <a:ext cx="5333695" cy="2423160"/>
          </a:xfrm>
          <a:prstGeom prst="roundRect">
            <a:avLst/>
          </a:prstGeom>
          <a:solidFill>
            <a:srgbClr val="F7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300" b="1">
                <a:solidFill>
                  <a:srgbClr val="1A365D"/>
                </a:solidFill>
                <a:latin typeface="Arial"/>
              </a:defRPr>
            </a:pPr>
            <a:r>
              <a:t>4. Reproducible &amp; Honest Science</a:t>
            </a:r>
          </a:p>
          <a:p>
            <a:pPr>
              <a:spcAft>
                <a:spcPts val="300"/>
              </a:spcAft>
              <a:defRPr sz="1050">
                <a:solidFill>
                  <a:srgbClr val="2D3748"/>
                </a:solidFill>
                <a:latin typeface="Arial"/>
              </a:defRPr>
            </a:pPr>
            <a:r>
              <a:t>• Strict train-only preprocessing with zero data leakage.</a:t>
            </a:r>
          </a:p>
          <a:p>
            <a:pPr>
              <a:spcAft>
                <a:spcPts val="300"/>
              </a:spcAft>
              <a:defRPr sz="1050">
                <a:solidFill>
                  <a:srgbClr val="2D3748"/>
                </a:solidFill>
                <a:latin typeface="Arial"/>
              </a:defRPr>
            </a:pPr>
            <a:r>
              <a:t>• Evaluated across 15 conditions and 5 fixed seeds.</a:t>
            </a:r>
          </a:p>
          <a:p>
            <a:pPr>
              <a:spcAft>
                <a:spcPts val="300"/>
              </a:spcAft>
              <a:defRPr sz="1050">
                <a:solidFill>
                  <a:srgbClr val="2D3748"/>
                </a:solidFill>
                <a:latin typeface="Arial"/>
              </a:defRPr>
            </a:pPr>
            <a:r>
              <a:t>• Statistically cautious reporting (acknowledging p=0.1722).</a:t>
            </a:r>
          </a:p>
          <a:p>
            <a:pPr>
              <a:spcAft>
                <a:spcPts val="300"/>
              </a:spcAft>
              <a:defRPr sz="1050">
                <a:solidFill>
                  <a:srgbClr val="2D3748"/>
                </a:solidFill>
                <a:latin typeface="Arial"/>
              </a:defRPr>
            </a:pPr>
            <a:r>
              <a:t>• 59 saved checkpoints, 24 presentation figures, full open-source.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